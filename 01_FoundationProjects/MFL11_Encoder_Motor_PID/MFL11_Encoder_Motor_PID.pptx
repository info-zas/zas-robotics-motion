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63" r:id="rId4"/>
    <p:sldId id="565" r:id="rId5"/>
    <p:sldId id="566" r:id="rId6"/>
    <p:sldId id="55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1" autoAdjust="0"/>
    <p:restoredTop sz="94660"/>
  </p:normalViewPr>
  <p:slideViewPr>
    <p:cSldViewPr snapToGrid="0">
      <p:cViewPr>
        <p:scale>
          <a:sx n="77" d="100"/>
          <a:sy n="77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MFL11)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MFL11: Encoder Motor Control with PID</a:t>
            </a:r>
            <a:endParaRPr lang="en-GB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B437B-9B56-87D4-CB28-02E745FB8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MFL11 : 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PID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15ECC-B988-183B-0F8E-D2D210E7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TB6612, same motor driver as DC motor</a:t>
            </a:r>
          </a:p>
          <a:p>
            <a:r>
              <a:rPr lang="en-US" dirty="0"/>
              <a:t>DC motor → no feedback</a:t>
            </a:r>
          </a:p>
          <a:p>
            <a:r>
              <a:rPr lang="en-US" dirty="0"/>
              <a:t>Encoder motor → live pulses + direction</a:t>
            </a:r>
          </a:p>
          <a:p>
            <a:endParaRPr lang="en-GB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AE4043A-DEEE-C1AC-F2B7-A7EF7633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65023"/>
            <a:ext cx="6187976" cy="3375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60DB46-B1B7-51ED-117F-9B1F2624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9129" y="1843770"/>
            <a:ext cx="2408129" cy="2842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AA71BB-BB94-9F50-BFCD-78BB2E18A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237" y="4952999"/>
            <a:ext cx="1110831" cy="10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6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943F-95A7-1AE3-4E40-CD335966A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MFL11 : 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PID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F942-3D33-C5F6-08D9-47F0BFC2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“Encoders turn motion into data, and data into control.”</a:t>
            </a:r>
          </a:p>
          <a:p>
            <a:r>
              <a:rPr lang="en-GB" b="1" dirty="0"/>
              <a:t>Feedback System</a:t>
            </a:r>
          </a:p>
          <a:p>
            <a:r>
              <a:rPr lang="en-GB" dirty="0"/>
              <a:t>A feedback system </a:t>
            </a:r>
            <a:r>
              <a:rPr lang="en-GB" b="1" dirty="0"/>
              <a:t>measures motor output</a:t>
            </a:r>
            <a:r>
              <a:rPr lang="en-GB" dirty="0"/>
              <a:t> and uses it to </a:t>
            </a:r>
            <a:r>
              <a:rPr lang="en-GB" b="1" dirty="0"/>
              <a:t>correct the motor</a:t>
            </a:r>
            <a:endParaRPr lang="en-GB" dirty="0"/>
          </a:p>
          <a:p>
            <a:r>
              <a:rPr lang="en-GB" dirty="0"/>
              <a:t>In encoder motors:</a:t>
            </a:r>
          </a:p>
          <a:p>
            <a:pPr lvl="1"/>
            <a:r>
              <a:rPr lang="en-GB" b="1" dirty="0"/>
              <a:t>Encoder</a:t>
            </a:r>
            <a:r>
              <a:rPr lang="en-GB" dirty="0"/>
              <a:t> measures speed / position</a:t>
            </a:r>
          </a:p>
          <a:p>
            <a:pPr lvl="1"/>
            <a:r>
              <a:rPr lang="en-GB" b="1" dirty="0"/>
              <a:t>Controller</a:t>
            </a:r>
            <a:r>
              <a:rPr lang="en-GB" dirty="0"/>
              <a:t> compares actual value with desired value</a:t>
            </a:r>
          </a:p>
          <a:p>
            <a:pPr lvl="1"/>
            <a:r>
              <a:rPr lang="en-GB" b="1" dirty="0"/>
              <a:t>Motor driver</a:t>
            </a:r>
            <a:r>
              <a:rPr lang="en-GB" dirty="0"/>
              <a:t> adjusts power automatically</a:t>
            </a:r>
          </a:p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Encoder measures RPM → Arduino adjusts PWM → speed stays constant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389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E6B3-CFE2-FF06-A32D-7C421D91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MFL11 : 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PID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B24F-0CE2-A5DE-0F69-8B759C6FA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PID Controller</a:t>
            </a:r>
          </a:p>
          <a:p>
            <a:r>
              <a:rPr lang="en-GB" dirty="0"/>
              <a:t>PID is a control method used in </a:t>
            </a:r>
            <a:r>
              <a:rPr lang="en-GB" b="1" dirty="0"/>
              <a:t>closed-loop systems</a:t>
            </a:r>
            <a:r>
              <a:rPr lang="en-GB" dirty="0"/>
              <a:t>.</a:t>
            </a:r>
          </a:p>
          <a:p>
            <a:r>
              <a:rPr lang="en-GB" b="1" dirty="0"/>
              <a:t>P – Proportional</a:t>
            </a:r>
            <a:endParaRPr lang="en-GB" dirty="0"/>
          </a:p>
          <a:p>
            <a:pPr lvl="1"/>
            <a:r>
              <a:rPr lang="en-GB" dirty="0"/>
              <a:t>Reacts to current error</a:t>
            </a:r>
          </a:p>
          <a:p>
            <a:pPr lvl="1"/>
            <a:r>
              <a:rPr lang="en-GB" dirty="0"/>
              <a:t>If speed is low → increase PWM</a:t>
            </a:r>
          </a:p>
          <a:p>
            <a:r>
              <a:rPr lang="en-GB" b="1" dirty="0"/>
              <a:t>I – Integral</a:t>
            </a:r>
            <a:endParaRPr lang="en-GB" dirty="0"/>
          </a:p>
          <a:p>
            <a:pPr lvl="1"/>
            <a:r>
              <a:rPr lang="en-GB" dirty="0"/>
              <a:t>Corrects accumulated error over time</a:t>
            </a:r>
          </a:p>
          <a:p>
            <a:pPr lvl="1"/>
            <a:r>
              <a:rPr lang="en-GB" dirty="0"/>
              <a:t>Removes long-term speed offset</a:t>
            </a:r>
          </a:p>
          <a:p>
            <a:r>
              <a:rPr lang="en-GB" b="1" dirty="0"/>
              <a:t>D – Derivative</a:t>
            </a:r>
            <a:endParaRPr lang="en-GB" dirty="0"/>
          </a:p>
          <a:p>
            <a:pPr lvl="1"/>
            <a:r>
              <a:rPr lang="en-GB" dirty="0"/>
              <a:t>Predicts future error</a:t>
            </a:r>
          </a:p>
          <a:p>
            <a:pPr lvl="1"/>
            <a:r>
              <a:rPr lang="en-GB" dirty="0"/>
              <a:t>Reduces overshoot and oscillations</a:t>
            </a:r>
          </a:p>
          <a:p>
            <a:r>
              <a:rPr lang="en-US" dirty="0"/>
              <a:t>Encoder provides feedback, PID decides how strongly to correct the motor.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5448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534403" y="1273979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(MFL11.ino)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91C2BF-6BA2-9458-3577-3127D8611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725" y="1458645"/>
            <a:ext cx="4560840" cy="444111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ADCA91-4979-7967-74B1-C8285AA4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34" y="381128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MFL11 : 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Encoder Motor Control with PID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AB6B6-661C-6608-6FE6-3A77CD5EE920}"/>
              </a:ext>
            </a:extLst>
          </p:cNvPr>
          <p:cNvSpPr/>
          <p:nvPr/>
        </p:nvSpPr>
        <p:spPr>
          <a:xfrm>
            <a:off x="7241128" y="1558233"/>
            <a:ext cx="1952568" cy="184571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78613-60D0-933E-0D78-D66839DDD23C}"/>
              </a:ext>
            </a:extLst>
          </p:cNvPr>
          <p:cNvSpPr/>
          <p:nvPr/>
        </p:nvSpPr>
        <p:spPr>
          <a:xfrm>
            <a:off x="7146234" y="3503539"/>
            <a:ext cx="927963" cy="78022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92FECC95-373E-7189-86C5-A789832A14BD}"/>
              </a:ext>
            </a:extLst>
          </p:cNvPr>
          <p:cNvSpPr txBox="1"/>
          <p:nvPr/>
        </p:nvSpPr>
        <p:spPr>
          <a:xfrm>
            <a:off x="623660" y="1643311"/>
            <a:ext cx="469318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setup()</a:t>
            </a:r>
          </a:p>
          <a:p>
            <a:r>
              <a:rPr lang="en-GB" sz="1200" dirty="0"/>
              <a:t>    • Set motor driver pins (PWM, AIN1, AIN2) as OUTPUT</a:t>
            </a:r>
          </a:p>
          <a:p>
            <a:r>
              <a:rPr lang="en-GB" sz="1200" dirty="0"/>
              <a:t>    • Set ENCA pin as INPUT_PULLUP</a:t>
            </a:r>
          </a:p>
          <a:p>
            <a:r>
              <a:rPr lang="en-GB" sz="1200" dirty="0"/>
              <a:t>    • Attach interrupt to ENCA (RISING) to track encoder ticks</a:t>
            </a:r>
          </a:p>
          <a:p>
            <a:r>
              <a:rPr lang="en-GB" sz="1200" dirty="0"/>
              <a:t>    • Initialize OLED display at address 0x3C</a:t>
            </a:r>
          </a:p>
          <a:p>
            <a:r>
              <a:rPr lang="en-GB" sz="1200" dirty="0"/>
              <a:t>    • Display "PID Start" message on OLED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    • Safely copy </a:t>
            </a:r>
            <a:r>
              <a:rPr lang="en-GB" sz="1200" dirty="0" err="1"/>
              <a:t>encoderTicks</a:t>
            </a:r>
            <a:r>
              <a:rPr lang="en-GB" sz="1200" dirty="0"/>
              <a:t> using </a:t>
            </a:r>
            <a:r>
              <a:rPr lang="en-GB" sz="1200" dirty="0" err="1"/>
              <a:t>noInterrupts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Calculate error = </a:t>
            </a:r>
            <a:r>
              <a:rPr lang="en-GB" sz="1200" dirty="0" err="1"/>
              <a:t>targetTicks</a:t>
            </a:r>
            <a:r>
              <a:rPr lang="en-GB" sz="1200" dirty="0"/>
              <a:t> – ticks</a:t>
            </a:r>
          </a:p>
          <a:p>
            <a:r>
              <a:rPr lang="en-GB" sz="1200" dirty="0"/>
              <a:t>    • If error is within tolerance:</a:t>
            </a:r>
          </a:p>
          <a:p>
            <a:r>
              <a:rPr lang="en-GB" sz="1200" dirty="0"/>
              <a:t>        - Stop motor (PWM = 0, AIN1 &amp; AIN2 LOW)</a:t>
            </a:r>
          </a:p>
          <a:p>
            <a:r>
              <a:rPr lang="en-GB" sz="1200" dirty="0"/>
              <a:t>    • Else:</a:t>
            </a:r>
          </a:p>
          <a:p>
            <a:r>
              <a:rPr lang="en-GB" sz="1200" dirty="0"/>
              <a:t>        - Compute PID terms: proportional, integral, derivative</a:t>
            </a:r>
          </a:p>
          <a:p>
            <a:r>
              <a:rPr lang="en-GB" sz="1200" dirty="0"/>
              <a:t>        - Calculate output speed (PWM), constrain between </a:t>
            </a:r>
            <a:r>
              <a:rPr lang="en-GB" sz="1200" dirty="0" err="1"/>
              <a:t>minPWM</a:t>
            </a:r>
            <a:r>
              <a:rPr lang="en-GB" sz="1200" dirty="0"/>
              <a:t> and </a:t>
            </a:r>
            <a:r>
              <a:rPr lang="en-GB" sz="1200" dirty="0" err="1"/>
              <a:t>maxPWM</a:t>
            </a:r>
            <a:endParaRPr lang="en-GB" sz="1200" dirty="0"/>
          </a:p>
          <a:p>
            <a:r>
              <a:rPr lang="en-GB" sz="1200" dirty="0"/>
              <a:t>        - Set direction (CW), apply PWM to motor</a:t>
            </a:r>
          </a:p>
          <a:p>
            <a:r>
              <a:rPr lang="en-GB" sz="1200" dirty="0"/>
              <a:t>        - Update </a:t>
            </a:r>
            <a:r>
              <a:rPr lang="en-GB" sz="1200" dirty="0" err="1"/>
              <a:t>previousError</a:t>
            </a:r>
            <a:r>
              <a:rPr lang="en-GB" sz="1200" dirty="0"/>
              <a:t> and </a:t>
            </a:r>
            <a:r>
              <a:rPr lang="en-GB" sz="1200" dirty="0" err="1"/>
              <a:t>lastTime</a:t>
            </a:r>
            <a:endParaRPr lang="en-GB" sz="1200" dirty="0"/>
          </a:p>
          <a:p>
            <a:r>
              <a:rPr lang="en-GB" sz="1200" dirty="0"/>
              <a:t>    • Clear OLED</a:t>
            </a:r>
          </a:p>
          <a:p>
            <a:r>
              <a:rPr lang="en-GB" sz="1200" dirty="0"/>
              <a:t>    • Display ticks and error value</a:t>
            </a:r>
          </a:p>
          <a:p>
            <a:r>
              <a:rPr lang="en-GB" sz="1200" dirty="0"/>
              <a:t>    • Wait 100 </a:t>
            </a:r>
            <a:r>
              <a:rPr lang="en-GB" sz="1200" dirty="0" err="1"/>
              <a:t>ms</a:t>
            </a:r>
            <a:endParaRPr lang="en-GB" sz="1200" dirty="0"/>
          </a:p>
          <a:p>
            <a:endParaRPr lang="en-GB" sz="1200" dirty="0"/>
          </a:p>
          <a:p>
            <a:r>
              <a:rPr lang="en-GB" sz="1200" dirty="0" err="1"/>
              <a:t>readEncoder</a:t>
            </a:r>
            <a:r>
              <a:rPr lang="en-GB" sz="1200" dirty="0"/>
              <a:t>()</a:t>
            </a:r>
          </a:p>
          <a:p>
            <a:r>
              <a:rPr lang="en-GB" sz="1200" dirty="0"/>
              <a:t>    • Increment </a:t>
            </a:r>
            <a:r>
              <a:rPr lang="en-GB" sz="1200" dirty="0" err="1"/>
              <a:t>encoderTicks</a:t>
            </a:r>
            <a:r>
              <a:rPr lang="en-GB" sz="1200" dirty="0"/>
              <a:t> every time ENCA rises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30CB9-198A-5D1F-9378-614829910277}"/>
              </a:ext>
            </a:extLst>
          </p:cNvPr>
          <p:cNvSpPr txBox="1"/>
          <p:nvPr/>
        </p:nvSpPr>
        <p:spPr>
          <a:xfrm>
            <a:off x="5561772" y="5899763"/>
            <a:ext cx="6097656" cy="923330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dirty="0"/>
              <a:t>https://github.com/info-zas/zas-robotics-motion/blob/main/01_FoundationProjects/MFL11/MFL11/MFL11.ino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416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MFL11 :  Encoder Motor Control with PID</vt:lpstr>
      <vt:lpstr>MFL11 :  Encoder Motor Control with PID</vt:lpstr>
      <vt:lpstr>MFL11 :  Encoder Motor Control with PID</vt:lpstr>
      <vt:lpstr>MFL11 :  Encoder Motor Control with PID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55</cp:revision>
  <dcterms:created xsi:type="dcterms:W3CDTF">2025-12-15T22:48:27Z</dcterms:created>
  <dcterms:modified xsi:type="dcterms:W3CDTF">2025-12-26T19:48:21Z</dcterms:modified>
</cp:coreProperties>
</file>