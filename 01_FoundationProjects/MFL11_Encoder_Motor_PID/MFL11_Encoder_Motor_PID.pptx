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561" r:id="rId3"/>
    <p:sldId id="563" r:id="rId4"/>
    <p:sldId id="565" r:id="rId5"/>
    <p:sldId id="566" r:id="rId6"/>
    <p:sldId id="55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21" autoAdjust="0"/>
    <p:restoredTop sz="94660"/>
  </p:normalViewPr>
  <p:slideViewPr>
    <p:cSldViewPr snapToGrid="0">
      <p:cViewPr varScale="1">
        <p:scale>
          <a:sx n="78" d="100"/>
          <a:sy n="78" d="100"/>
        </p:scale>
        <p:origin x="586" y="-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A2F86-F018-07A4-84F1-52823A0DA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F94945-8A4A-B89E-20EE-CED3B09E56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82CEF-73B0-B114-17D9-FD9CFBDB1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DF3B9-AF4C-79AC-69E5-3FC88C3F6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F62339-9E4C-3C72-3840-3F59CF5A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8660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E9C85-8CC8-C502-D9BD-81888779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9D557-0941-3C03-A0EB-6FE533DBB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2F304-F8E8-03F3-1473-9675C79F8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E13BC-1F7A-01CE-6933-6123A0E20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25E2F-4221-3FBB-5CA9-CB06EB24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4750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35EAC-9D8F-984C-5F6F-D44D78F51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0CF8EE-9651-00E1-0047-7778BAA52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3E7B9-F204-1F38-6180-1012050F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33031-E006-FDDA-90C5-6B4FAE43C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B437F-9D5D-8126-E6D2-97ADD3A4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862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E436-A01E-E2E9-7E18-8676C31F6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4EF18-CF9F-A1AB-96C9-8F301991C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1F3F-C804-8B04-9089-B1398E417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DB9D92-2C72-A151-8714-6022EEA8F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A464E-0729-A1AA-C908-9799256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64CDDE-89B2-B95A-172E-FECE1CD02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25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B5A0-72AD-1DDC-A234-35AC72C6F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926CE9-F8DA-52F6-BF78-687D4B251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36D1C3-0770-F658-2647-2E52C4964A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6F3F53-A490-3C3C-E723-12135D9585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2E8664-8847-28E1-C46A-2508C60705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021AB1-DA58-23E9-5406-7E9C3A4A3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2B9E8-5B2B-777C-F8DA-0323F0EFE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5FE93-AA89-29A7-CEB7-9C61150A6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6269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4387-9B35-4330-B5EE-B487A30F5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53F9-B4BD-8150-AA72-B46835FC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F7FF8-4405-B091-7252-CDAB7BCD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6D510-8080-308F-BF18-6029CB66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6621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B337C-CAB8-3420-B338-703C4293F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119144-7632-D6D4-488D-9CD181B44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916C5-B3B3-0445-D064-60E6852B3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600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46796-8159-F1F0-4950-5C9AB88A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E95C-0B48-D39C-1AD1-D609D277A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3276B-9214-85C0-340D-2C507AF03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23F23C-EABC-14C6-4722-60517C549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8906D2-CCDE-B73B-19F4-6536B7B3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F9A00-CF7A-F7C1-97CB-D906215E4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311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70843-A785-2541-37C6-B505BBFB0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80070E-F261-BCDC-3012-5F23296D8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5E56C-D840-AD20-B2F3-032B35FC0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5A2E7-5A13-71DE-E1B0-8600E1D1F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98A68-63E2-F500-D96D-FCC6B8AF0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D5C86-0C1F-F7D8-5727-363DE0D6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9841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EF27-1BA6-FD09-88BB-573B3B3EC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4D442B-2C5A-42CA-3835-72529F668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DE8B8-289E-8925-3A49-62AFA3A7D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2A8E2-C62D-7FBE-5F8D-F60EDEA38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056AD-4328-E9F8-E466-3C5820D62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556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A4C10-D097-636E-DB3E-F4D2C1D24A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1E8D57-72F0-AFD6-F020-0A42C20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C474-2C3A-7997-8052-E8E9A04C3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40EBA-B5F4-3F4E-C8DA-554E3ED2F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2069E-279E-D105-B612-C748792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6845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65487B-84A7-B736-BF5A-C2B803265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1B38-50A9-9AC9-289A-21443F139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4DB94-94D0-0729-8FCA-F4D89ACC45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049E3-AEF5-412D-9F98-5201579F9569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9CCE-83E9-1BA5-A2CB-01A1AB45E5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A0CD5-E6BE-0CA8-E6B1-FD23463C9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A0FDCF-6711-4805-BB8A-DD98E3AA55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856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motion/tree/main/01_FoundationProjects/MFL11_Encoder_Motor_PID/MFL11_Encoder_Motor_PI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(Kit 2)</a:t>
            </a:r>
            <a:endParaRPr lang="en-GB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Motion Foundation Lessons (MFL)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MFL11)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MFL11: Encoder Motor Control with PID</a:t>
            </a:r>
            <a:endParaRPr lang="en-GB" sz="3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: Contents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06/12/2025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437B-9B56-87D4-CB28-02E745FB8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MFL11 : 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Encoder Motor Control with PID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15ECC-B988-183B-0F8E-D2D210E73F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TB6612, same motor driver as DC motor</a:t>
            </a:r>
          </a:p>
          <a:p>
            <a:r>
              <a:rPr lang="en-US" dirty="0"/>
              <a:t>DC motor → no feedback</a:t>
            </a:r>
          </a:p>
          <a:p>
            <a:r>
              <a:rPr lang="en-US" dirty="0"/>
              <a:t>Encoder motor → live pulses + direction</a:t>
            </a:r>
          </a:p>
          <a:p>
            <a:endParaRPr lang="en-GB" dirty="0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EAE4043A-DEEE-C1AC-F2B7-A7EF7633C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265023"/>
            <a:ext cx="6187976" cy="3375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60DB46-B1B7-51ED-117F-9B1F2624A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549129" y="1843770"/>
            <a:ext cx="2408129" cy="28425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AA71BB-BB94-9F50-BFCD-78BB2E18AF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5237" y="4952999"/>
            <a:ext cx="1110831" cy="109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6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B943F-95A7-1AE3-4E40-CD335966A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MFL11 : 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Encoder Motor Control with PID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F942-3D33-C5F6-08D9-47F0BFC2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“Encoders turn motion into data, and data into control.”</a:t>
            </a:r>
          </a:p>
          <a:p>
            <a:r>
              <a:rPr lang="en-GB" b="1" dirty="0"/>
              <a:t>Feedback System</a:t>
            </a:r>
          </a:p>
          <a:p>
            <a:r>
              <a:rPr lang="en-GB" dirty="0"/>
              <a:t>A feedback system </a:t>
            </a:r>
            <a:r>
              <a:rPr lang="en-GB" b="1" dirty="0"/>
              <a:t>measures motor output</a:t>
            </a:r>
            <a:r>
              <a:rPr lang="en-GB" dirty="0"/>
              <a:t> and uses it to </a:t>
            </a:r>
            <a:r>
              <a:rPr lang="en-GB" b="1" dirty="0"/>
              <a:t>correct the motor</a:t>
            </a:r>
            <a:endParaRPr lang="en-GB" dirty="0"/>
          </a:p>
          <a:p>
            <a:r>
              <a:rPr lang="en-GB" dirty="0"/>
              <a:t>In encoder motors:</a:t>
            </a:r>
          </a:p>
          <a:p>
            <a:pPr lvl="1"/>
            <a:r>
              <a:rPr lang="en-GB" b="1" dirty="0"/>
              <a:t>Encoder</a:t>
            </a:r>
            <a:r>
              <a:rPr lang="en-GB" dirty="0"/>
              <a:t> measures speed / position</a:t>
            </a:r>
          </a:p>
          <a:p>
            <a:pPr lvl="1"/>
            <a:r>
              <a:rPr lang="en-GB" b="1" dirty="0"/>
              <a:t>Controller</a:t>
            </a:r>
            <a:r>
              <a:rPr lang="en-GB" dirty="0"/>
              <a:t> compares actual value with desired value</a:t>
            </a:r>
          </a:p>
          <a:p>
            <a:pPr lvl="1"/>
            <a:r>
              <a:rPr lang="en-GB" b="1" dirty="0"/>
              <a:t>Motor driver</a:t>
            </a:r>
            <a:r>
              <a:rPr lang="en-GB" dirty="0"/>
              <a:t> adjusts power automatically</a:t>
            </a:r>
          </a:p>
          <a:p>
            <a:r>
              <a:rPr lang="en-GB" b="1" dirty="0"/>
              <a:t>Example:</a:t>
            </a:r>
            <a:br>
              <a:rPr lang="en-GB" dirty="0"/>
            </a:br>
            <a:r>
              <a:rPr lang="en-GB" dirty="0"/>
              <a:t>Encoder measures RPM → Arduino adjusts PWM → speed stays constant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3899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3E6B3-CFE2-FF06-A32D-7C421D916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MFL11 : 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Encoder Motor Control with PID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CB24F-0CE2-A5DE-0F69-8B759C6FA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PID Controller</a:t>
            </a:r>
          </a:p>
          <a:p>
            <a:r>
              <a:rPr lang="en-GB" dirty="0"/>
              <a:t>PID is a control method used in </a:t>
            </a:r>
            <a:r>
              <a:rPr lang="en-GB" b="1" dirty="0"/>
              <a:t>closed-loop systems</a:t>
            </a:r>
            <a:r>
              <a:rPr lang="en-GB" dirty="0"/>
              <a:t>.</a:t>
            </a:r>
          </a:p>
          <a:p>
            <a:r>
              <a:rPr lang="en-GB" b="1" dirty="0"/>
              <a:t>P – Proportional</a:t>
            </a:r>
            <a:endParaRPr lang="en-GB" dirty="0"/>
          </a:p>
          <a:p>
            <a:pPr lvl="1"/>
            <a:r>
              <a:rPr lang="en-GB" dirty="0"/>
              <a:t>Reacts to current error</a:t>
            </a:r>
          </a:p>
          <a:p>
            <a:pPr lvl="1"/>
            <a:r>
              <a:rPr lang="en-GB" dirty="0"/>
              <a:t>If speed is low → increase PWM</a:t>
            </a:r>
          </a:p>
          <a:p>
            <a:r>
              <a:rPr lang="en-GB" b="1" dirty="0"/>
              <a:t>I – Integral</a:t>
            </a:r>
            <a:endParaRPr lang="en-GB" dirty="0"/>
          </a:p>
          <a:p>
            <a:pPr lvl="1"/>
            <a:r>
              <a:rPr lang="en-GB" dirty="0"/>
              <a:t>Corrects accumulated error over time</a:t>
            </a:r>
          </a:p>
          <a:p>
            <a:pPr lvl="1"/>
            <a:r>
              <a:rPr lang="en-GB" dirty="0"/>
              <a:t>Removes long-term speed offset</a:t>
            </a:r>
          </a:p>
          <a:p>
            <a:r>
              <a:rPr lang="en-GB" b="1" dirty="0"/>
              <a:t>D – Derivative</a:t>
            </a:r>
            <a:endParaRPr lang="en-GB" dirty="0"/>
          </a:p>
          <a:p>
            <a:pPr lvl="1"/>
            <a:r>
              <a:rPr lang="en-GB" dirty="0"/>
              <a:t>Predicts future error</a:t>
            </a:r>
          </a:p>
          <a:p>
            <a:pPr lvl="1"/>
            <a:r>
              <a:rPr lang="en-GB" dirty="0"/>
              <a:t>Reduces overshoot and oscillations</a:t>
            </a:r>
          </a:p>
          <a:p>
            <a:r>
              <a:rPr lang="en-US" dirty="0"/>
              <a:t>Encoder provides feedback, PID decides how strongly to correct the motor.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5448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0FE3C65-7FCF-BB9D-9837-E709F24B4E65}"/>
              </a:ext>
            </a:extLst>
          </p:cNvPr>
          <p:cNvSpPr txBox="1"/>
          <p:nvPr/>
        </p:nvSpPr>
        <p:spPr>
          <a:xfrm>
            <a:off x="534403" y="1273979"/>
            <a:ext cx="60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Execute the code (MFL11.ino) in the motion creative board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A91E38-6DBF-FDF1-E941-4333B5DDC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E5424-51EB-5DB7-72F1-6579328B6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6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D99489-FD0A-F53B-7556-D031BE8FEC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91C2BF-6BA2-9458-3577-3127D86117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3725" y="1458645"/>
            <a:ext cx="4560840" cy="4441118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7ADCA91-4979-7967-74B1-C8285AA4D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234" y="381128"/>
            <a:ext cx="11193966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MFL11 :  </a:t>
            </a: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Encoder Motor Control with PID</a:t>
            </a: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EAB6B6-661C-6608-6FE6-3A77CD5EE920}"/>
              </a:ext>
            </a:extLst>
          </p:cNvPr>
          <p:cNvSpPr/>
          <p:nvPr/>
        </p:nvSpPr>
        <p:spPr>
          <a:xfrm>
            <a:off x="7241128" y="1558233"/>
            <a:ext cx="1952568" cy="184571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B78613-60D0-933E-0D78-D66839DDD23C}"/>
              </a:ext>
            </a:extLst>
          </p:cNvPr>
          <p:cNvSpPr/>
          <p:nvPr/>
        </p:nvSpPr>
        <p:spPr>
          <a:xfrm>
            <a:off x="7146234" y="3503539"/>
            <a:ext cx="927963" cy="780226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92FECC95-373E-7189-86C5-A789832A14BD}"/>
              </a:ext>
            </a:extLst>
          </p:cNvPr>
          <p:cNvSpPr txBox="1"/>
          <p:nvPr/>
        </p:nvSpPr>
        <p:spPr>
          <a:xfrm>
            <a:off x="623660" y="1643311"/>
            <a:ext cx="4693183" cy="4524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200" dirty="0"/>
              <a:t>setup()</a:t>
            </a:r>
          </a:p>
          <a:p>
            <a:r>
              <a:rPr lang="en-GB" sz="1200" dirty="0"/>
              <a:t>    • Set motor driver pins (PWM, AIN1, AIN2) as OUTPUT</a:t>
            </a:r>
          </a:p>
          <a:p>
            <a:r>
              <a:rPr lang="en-GB" sz="1200" dirty="0"/>
              <a:t>    • Set ENCA pin as INPUT_PULLUP</a:t>
            </a:r>
          </a:p>
          <a:p>
            <a:r>
              <a:rPr lang="en-GB" sz="1200" dirty="0"/>
              <a:t>    • Attach interrupt to ENCA (RISING) to track encoder ticks</a:t>
            </a:r>
          </a:p>
          <a:p>
            <a:r>
              <a:rPr lang="en-GB" sz="1200" dirty="0"/>
              <a:t>    • Initialize OLED display at address 0x3C</a:t>
            </a:r>
          </a:p>
          <a:p>
            <a:r>
              <a:rPr lang="en-GB" sz="1200" dirty="0"/>
              <a:t>    • Display "PID Start" message on OLED</a:t>
            </a:r>
          </a:p>
          <a:p>
            <a:endParaRPr lang="en-GB" sz="1200" dirty="0"/>
          </a:p>
          <a:p>
            <a:r>
              <a:rPr lang="en-GB" sz="1200" dirty="0"/>
              <a:t>loop()</a:t>
            </a:r>
          </a:p>
          <a:p>
            <a:r>
              <a:rPr lang="en-GB" sz="1200" dirty="0"/>
              <a:t>    • Safely copy </a:t>
            </a:r>
            <a:r>
              <a:rPr lang="en-GB" sz="1200" dirty="0" err="1"/>
              <a:t>encoderTicks</a:t>
            </a:r>
            <a:r>
              <a:rPr lang="en-GB" sz="1200" dirty="0"/>
              <a:t> using </a:t>
            </a:r>
            <a:r>
              <a:rPr lang="en-GB" sz="1200" dirty="0" err="1"/>
              <a:t>noInterrupts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Calculate error = </a:t>
            </a:r>
            <a:r>
              <a:rPr lang="en-GB" sz="1200" dirty="0" err="1"/>
              <a:t>targetTicks</a:t>
            </a:r>
            <a:r>
              <a:rPr lang="en-GB" sz="1200" dirty="0"/>
              <a:t> – ticks</a:t>
            </a:r>
          </a:p>
          <a:p>
            <a:r>
              <a:rPr lang="en-GB" sz="1200" dirty="0"/>
              <a:t>    • If error is within tolerance:</a:t>
            </a:r>
          </a:p>
          <a:p>
            <a:r>
              <a:rPr lang="en-GB" sz="1200" dirty="0"/>
              <a:t>        - Stop motor (PWM = 0, AIN1 &amp; AIN2 LOW)</a:t>
            </a:r>
          </a:p>
          <a:p>
            <a:r>
              <a:rPr lang="en-GB" sz="1200" dirty="0"/>
              <a:t>    • Else:</a:t>
            </a:r>
          </a:p>
          <a:p>
            <a:r>
              <a:rPr lang="en-GB" sz="1200" dirty="0"/>
              <a:t>        - Compute PID terms: proportional, integral, derivative</a:t>
            </a:r>
          </a:p>
          <a:p>
            <a:r>
              <a:rPr lang="en-GB" sz="1200" dirty="0"/>
              <a:t>        - Calculate output speed (PWM), constrain between </a:t>
            </a:r>
            <a:r>
              <a:rPr lang="en-GB" sz="1200" dirty="0" err="1"/>
              <a:t>minPWM</a:t>
            </a:r>
            <a:r>
              <a:rPr lang="en-GB" sz="1200" dirty="0"/>
              <a:t> and </a:t>
            </a:r>
            <a:r>
              <a:rPr lang="en-GB" sz="1200" dirty="0" err="1"/>
              <a:t>maxPWM</a:t>
            </a:r>
            <a:endParaRPr lang="en-GB" sz="1200" dirty="0"/>
          </a:p>
          <a:p>
            <a:r>
              <a:rPr lang="en-GB" sz="1200" dirty="0"/>
              <a:t>        - Set direction (CW), apply PWM to motor</a:t>
            </a:r>
          </a:p>
          <a:p>
            <a:r>
              <a:rPr lang="en-GB" sz="1200" dirty="0"/>
              <a:t>        - Update </a:t>
            </a:r>
            <a:r>
              <a:rPr lang="en-GB" sz="1200" dirty="0" err="1"/>
              <a:t>previousError</a:t>
            </a:r>
            <a:r>
              <a:rPr lang="en-GB" sz="1200" dirty="0"/>
              <a:t> and </a:t>
            </a:r>
            <a:r>
              <a:rPr lang="en-GB" sz="1200" dirty="0" err="1"/>
              <a:t>lastTime</a:t>
            </a:r>
            <a:endParaRPr lang="en-GB" sz="1200" dirty="0"/>
          </a:p>
          <a:p>
            <a:r>
              <a:rPr lang="en-GB" sz="1200" dirty="0"/>
              <a:t>    • Clear OLED</a:t>
            </a:r>
          </a:p>
          <a:p>
            <a:r>
              <a:rPr lang="en-GB" sz="1200" dirty="0"/>
              <a:t>    • Display ticks and error value</a:t>
            </a:r>
          </a:p>
          <a:p>
            <a:r>
              <a:rPr lang="en-GB" sz="1200" dirty="0"/>
              <a:t>    • Wait 100 </a:t>
            </a:r>
            <a:r>
              <a:rPr lang="en-GB" sz="1200" dirty="0" err="1"/>
              <a:t>ms</a:t>
            </a:r>
            <a:endParaRPr lang="en-GB" sz="1200" dirty="0"/>
          </a:p>
          <a:p>
            <a:endParaRPr lang="en-GB" sz="1200" dirty="0"/>
          </a:p>
          <a:p>
            <a:r>
              <a:rPr lang="en-GB" sz="1200" dirty="0" err="1"/>
              <a:t>readEncoder</a:t>
            </a:r>
            <a:r>
              <a:rPr lang="en-GB" sz="1200" dirty="0"/>
              <a:t>()</a:t>
            </a:r>
          </a:p>
          <a:p>
            <a:r>
              <a:rPr lang="en-GB" sz="1200" dirty="0"/>
              <a:t>    • Increment </a:t>
            </a:r>
            <a:r>
              <a:rPr lang="en-GB" sz="1200" dirty="0" err="1"/>
              <a:t>encoderTicks</a:t>
            </a:r>
            <a:r>
              <a:rPr lang="en-GB" sz="1200" dirty="0"/>
              <a:t> every time ENCA rises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30CB9-198A-5D1F-9378-614829910277}"/>
              </a:ext>
            </a:extLst>
          </p:cNvPr>
          <p:cNvSpPr txBox="1"/>
          <p:nvPr/>
        </p:nvSpPr>
        <p:spPr>
          <a:xfrm>
            <a:off x="5561772" y="5899763"/>
            <a:ext cx="6097656" cy="120032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hlinkClick r:id="rId4"/>
              </a:rPr>
              <a:t>https://github.com/info-zas/zas-robotics-motion/tree/main/01_FoundationProjects/MFL11_Encoder_Motor_PID/MFL11_Encoder_Motor_PID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9508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1196</TotalTime>
  <Words>424</Words>
  <Application>Microsoft Office PowerPoint</Application>
  <PresentationFormat>Widescreen</PresentationFormat>
  <Paragraphs>63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Motion Kit (Kit 2)</vt:lpstr>
      <vt:lpstr>Motion Kit : Contents</vt:lpstr>
      <vt:lpstr>MFL11 :  Encoder Motor Control with PID</vt:lpstr>
      <vt:lpstr>MFL11 :  Encoder Motor Control with PID</vt:lpstr>
      <vt:lpstr>MFL11 :  Encoder Motor Control with PID</vt:lpstr>
      <vt:lpstr>MFL11 :  Encoder Motor Control with PID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56</cp:revision>
  <dcterms:created xsi:type="dcterms:W3CDTF">2025-12-15T22:48:27Z</dcterms:created>
  <dcterms:modified xsi:type="dcterms:W3CDTF">2026-01-18T00:53:43Z</dcterms:modified>
</cp:coreProperties>
</file>