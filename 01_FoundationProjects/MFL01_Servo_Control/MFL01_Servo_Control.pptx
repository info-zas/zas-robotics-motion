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561" r:id="rId3"/>
    <p:sldId id="257" r:id="rId4"/>
    <p:sldId id="564" r:id="rId5"/>
    <p:sldId id="562" r:id="rId6"/>
    <p:sldId id="563" r:id="rId7"/>
    <p:sldId id="565" r:id="rId8"/>
    <p:sldId id="566" r:id="rId9"/>
    <p:sldId id="567" r:id="rId10"/>
    <p:sldId id="56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54" autoAdjust="0"/>
    <p:restoredTop sz="94660"/>
  </p:normalViewPr>
  <p:slideViewPr>
    <p:cSldViewPr snapToGrid="0">
      <p:cViewPr varScale="1">
        <p:scale>
          <a:sx n="78" d="100"/>
          <a:sy n="78" d="100"/>
        </p:scale>
        <p:origin x="49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3FEA32-2B8B-4244-A536-214CF6D4B9AB}" type="datetimeFigureOut">
              <a:rPr lang="en-GB" smtClean="0"/>
              <a:t>18/01/2026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D2CD01-2772-4AF8-9466-73774B5F01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4304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F5D21-5C4F-8D9E-7FA8-76F7F6342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9D9B3-8F15-A5BD-3712-7E9B6FB9B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73F52-B7DA-A46F-7D47-F3165BA00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DE237-D0A8-8204-0CBC-116E52403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27FEF-679B-858D-946F-54A02B4B3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111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531-151F-744E-6E6B-6289ADDEA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70542F-505E-8990-FA6A-1C0926767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A6E7E-6DE9-2DCD-CEB7-C34692D5F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BB5AF-1A83-E4B7-F215-3322543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3F16BA-8086-5B54-3073-62329D1BE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937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A0FE-A8AD-7D8B-D9AF-32BE2DF4B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1975F9-423B-F4B0-21FD-AD9E59190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39C2A-A532-6A07-D74B-DFA878339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8FF95C-1489-D66D-17EE-7E7F4BDE4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3CEA-0A0C-F0E0-2382-FE3CFFA3A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8355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FA62B-3196-810C-25DA-867E58E40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79251-ADB9-564F-A0E8-4544B5DD25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338357-F991-916E-F55E-D33B3B5589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B712E3-C5C9-A553-608F-F6617A9B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02906B-4867-30DD-0DCE-BC37F1AC1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506FF6-B6C3-3F5B-617C-092C9CEB5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6015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8C197-A54D-0BC2-1361-071D144C8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F5B1B-2A95-BC89-83B7-73DDD9787A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E93C43-1D8D-B03E-ADF5-E8FE0B2952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8C70AF-659D-A939-1A82-B4EBD7B84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439A98-65A3-3CF5-AD07-9AAC8288E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B3538-91A6-D119-5D4B-7FBF59B24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2852D7-8ADE-231B-1748-76E481455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206E61-8A9B-EA2A-EAAD-0B862C768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2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C9240-87DD-5F4C-0863-5DA6FB53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49AC3C-F8C1-59A1-4915-364581564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929AB9-B5FC-420A-E844-DE2DCB4C1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27500-6C83-17A4-C2D6-31B648FE9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69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C8079-13FD-8590-4D92-1477F029B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FC357A-F34C-E06D-7085-97B89AD66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67FF8-8244-9FD5-7677-5BF0C2928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54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662F-416B-A35F-03C2-53DFA6DCD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C53E01-08C9-C606-714F-14B984E64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B283E3-BEF2-0983-B542-9CC494C8B2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192B0-8202-50EF-4F30-CD86E593F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1173-902E-BB87-52CA-02814A42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3DABF-C3FB-6892-42E2-3042028ED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7968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937CE-6997-2F94-6AB8-28894A468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E253F0-61CB-494C-9AE2-75D4D6A8E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CBB420-64D6-A41D-342E-50D18D8B74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1583DC-D3BC-F8A0-CAF3-53E862AAF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407A1B-67EC-2703-4322-26748FC73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4383E-78FC-B5FE-595F-0448B665D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7072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044FA-6991-3534-22D7-EFD58AC24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5CF4C-1405-BFA5-0A04-5D82CB2AD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35254-5C3A-03C6-2789-A03722906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F644E-9AE7-6B98-3779-AD44811EB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D016E-072A-A391-875E-41D05145A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4882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5F21B1-1D8F-7580-A9B7-CF11AB94CE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A3E446-2D02-E169-F4CE-59F4A64FF4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CAA05B-0406-D755-E324-32CBD4898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4BF43-763C-F446-1231-1FB6CB83D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38E66-0A51-C30E-742E-1C95BDC8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3366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67EBAD-5A44-D508-FACE-3A970FC0D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8969B6-7349-041D-7E62-61E1376259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9CF7F-72A8-368D-2FDD-B58429DC1C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December 2025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BB911-5ECA-16CF-A969-6C2522606A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4F58A-1703-F328-A5DA-1551CB2F4B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F5A6A5-3841-4FBA-B455-67883EB3171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5971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13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info-zas/zas-robotics-motion/tree/main/01_FoundationProjects/MFL01_Servo_Control/MFL01_Servo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info-zas/zas-robotics-motion/tree/main/01_FoundationProjects/MFL01_Servo_Control/MFL01_Servo" TargetMode="External"/><Relationship Id="rId4" Type="http://schemas.openxmlformats.org/officeDocument/2006/relationships/hyperlink" Target="https://github.com/info-zas/zas-robotics-motion/tree/main/01_FoundationProjects/MFL01/MFL01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info-zas/zas-robotics-motion/tree/main/01_FoundationProjects/MFL01_Servo_Control/MFL01_Servo_Pot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(Kit 2)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Motion Foundation Lessons (MFL)</a:t>
            </a:r>
          </a:p>
          <a:p>
            <a:r>
              <a:rPr lang="en-GB" sz="3600" b="1" dirty="0">
                <a:solidFill>
                  <a:srgbClr val="00B0F0"/>
                </a:solidFill>
              </a:rPr>
              <a:t>(Lesson Ref: MFL01)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MFL01: Servo Motor Control with Potentiometer</a:t>
            </a:r>
            <a:endParaRPr lang="en-GB" sz="3600" b="1" dirty="0">
              <a:solidFill>
                <a:srgbClr val="7030A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371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B05A1-8163-931A-0AC5-4711F7A42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882" y="95922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Motion Kit : Contents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FAB8725-30A7-DF06-3E6C-C3098D29CB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80" y="1515540"/>
            <a:ext cx="5564757" cy="442142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02A98CD-9552-64C0-7C52-1BEE0A11E89A}"/>
              </a:ext>
            </a:extLst>
          </p:cNvPr>
          <p:cNvSpPr txBox="1"/>
          <p:nvPr/>
        </p:nvSpPr>
        <p:spPr>
          <a:xfrm>
            <a:off x="8308258" y="6053550"/>
            <a:ext cx="2355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Creative Board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73E46A-76A9-AC08-1A72-507CE6EF5A4D}"/>
              </a:ext>
            </a:extLst>
          </p:cNvPr>
          <p:cNvSpPr txBox="1"/>
          <p:nvPr/>
        </p:nvSpPr>
        <p:spPr>
          <a:xfrm>
            <a:off x="2099187" y="5980856"/>
            <a:ext cx="2473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Motion Kit Components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0B81BE11-A2B7-14CF-67C1-5885E0C8F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1574" y="1515540"/>
            <a:ext cx="4840544" cy="453801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34387A-57AF-85E7-D37E-6EEEF9D35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E077C-C2C2-1A6F-4A31-E6F0AB633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A2A5D-5A42-4533-ACF4-15D55555B360}" type="slidenum">
              <a:rPr lang="en-GB" smtClean="0"/>
              <a:t>2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3CF65C-3B0D-4730-0E30-DB8DC39960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9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482F8-1347-DEC5-1ED0-0F6E05EEA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MFL01 : Servo Motor Control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2EC62-7BFF-858A-D846-91789E902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1013"/>
            <a:ext cx="10515600" cy="4351338"/>
          </a:xfrm>
        </p:spPr>
        <p:txBody>
          <a:bodyPr/>
          <a:lstStyle/>
          <a:p>
            <a:r>
              <a:rPr lang="en-GB" b="1" dirty="0"/>
              <a:t>Things Needed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AA02E7-2E48-2AAB-4DA7-AEAA051963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92" y="2280402"/>
            <a:ext cx="3417779" cy="22971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010ACE5-7676-1262-0B8F-0678387AC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 flipH="1">
            <a:off x="2639551" y="4781275"/>
            <a:ext cx="3708948" cy="20804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9C6205-5BE0-6E70-2E8A-FF9C9D90C2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27" y="4172245"/>
            <a:ext cx="2160798" cy="25931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022C73D-6FBF-9218-8CFA-FC5E04E82A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8072" y="3624934"/>
            <a:ext cx="3708949" cy="2552029"/>
          </a:xfrm>
          <a:prstGeom prst="rect">
            <a:avLst/>
          </a:prstGeom>
        </p:spPr>
      </p:pic>
      <p:pic>
        <p:nvPicPr>
          <p:cNvPr id="10" name="Picture 9" descr="A blue plastic device with a white valve&#10;&#10;AI-generated content may be incorrect.">
            <a:extLst>
              <a:ext uri="{FF2B5EF4-FFF2-40B4-BE49-F238E27FC236}">
                <a16:creationId xmlns:a16="http://schemas.microsoft.com/office/drawing/2014/main" id="{77E7AEF8-D28D-D64E-C934-6713E7A618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07801" y="1995230"/>
            <a:ext cx="2110923" cy="156223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8CC0CDC-7C73-2B32-1083-BECC3125F83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EA5F98B-EA2D-8434-CDBE-E779F35C5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810FD22-43DC-BAB4-68F1-1F8924F24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9013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2D33-65A5-4FB9-9137-7504FB0A2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MFL01 : Servo Motor Control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78E65-07E6-F1F7-DA43-51071FBE24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Servo Motor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103187E-54E7-CA7E-A24D-A38F3A42CB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997" y="2502378"/>
            <a:ext cx="4914900" cy="3467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40E01F-2A27-153F-A306-EE2B316FDB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0DC544E-7FC8-C6E9-CCE1-9B9F37192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411957-4CA3-F07B-AFC6-AB5C31B4D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480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E767D63-2708-5F39-B16A-44A659E27580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MFL01 : Servo Motor Control </a:t>
            </a:r>
          </a:p>
        </p:txBody>
      </p:sp>
      <p:pic>
        <p:nvPicPr>
          <p:cNvPr id="6" name="Picture 5" descr="A circuit board with wires connected to it&#10;&#10;AI-generated content may be incorrect.">
            <a:extLst>
              <a:ext uri="{FF2B5EF4-FFF2-40B4-BE49-F238E27FC236}">
                <a16:creationId xmlns:a16="http://schemas.microsoft.com/office/drawing/2014/main" id="{86C219EB-99DB-868C-7236-1351FB1AF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576" y="1812459"/>
            <a:ext cx="7616827" cy="374714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BDE3A80-6F10-1363-AFE7-61AF60763B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58D527-DBE7-0068-5D17-6D2FB2043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A58EC6-6FF4-E4CE-38D4-A66A530D6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5</a:t>
            </a:fld>
            <a:endParaRPr lang="en-GB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FA67515-DC3E-1C9C-46AD-C4F663991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68335"/>
              </p:ext>
            </p:extLst>
          </p:nvPr>
        </p:nvGraphicFramePr>
        <p:xfrm>
          <a:off x="8190959" y="3122073"/>
          <a:ext cx="3690375" cy="1127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703">
                  <a:extLst>
                    <a:ext uri="{9D8B030D-6E8A-4147-A177-3AD203B41FA5}">
                      <a16:colId xmlns:a16="http://schemas.microsoft.com/office/drawing/2014/main" val="1303422274"/>
                    </a:ext>
                  </a:extLst>
                </a:gridCol>
                <a:gridCol w="1484672">
                  <a:extLst>
                    <a:ext uri="{9D8B030D-6E8A-4147-A177-3AD203B41FA5}">
                      <a16:colId xmlns:a16="http://schemas.microsoft.com/office/drawing/2014/main" val="3268128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Arduino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Breadboard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2140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GND (Brown Wire)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Blueline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797599"/>
                  </a:ext>
                </a:extLst>
              </a:tr>
              <a:tr h="386236">
                <a:tc>
                  <a:txBody>
                    <a:bodyPr/>
                    <a:lstStyle/>
                    <a:p>
                      <a:r>
                        <a:rPr lang="en-GB" dirty="0"/>
                        <a:t>5V (Red Wire)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Redline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0899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19A741A-9133-8461-6A2E-322C0076346C}"/>
              </a:ext>
            </a:extLst>
          </p:cNvPr>
          <p:cNvSpPr txBox="1"/>
          <p:nvPr/>
        </p:nvSpPr>
        <p:spPr>
          <a:xfrm>
            <a:off x="8190959" y="2660408"/>
            <a:ext cx="35763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b="1" dirty="0">
                <a:solidFill>
                  <a:srgbClr val="00B0F0"/>
                </a:solidFill>
              </a:rPr>
              <a:t>Connections:</a:t>
            </a:r>
          </a:p>
        </p:txBody>
      </p:sp>
    </p:spTree>
    <p:extLst>
      <p:ext uri="{BB962C8B-B14F-4D97-AF65-F5344CB8AC3E}">
        <p14:creationId xmlns:p14="http://schemas.microsoft.com/office/powerpoint/2010/main" val="39986929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4FA3A-34D9-2341-8F12-8D3282A56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MFL01 : Servo Motor Control 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780F403-0E86-2B59-AE6B-7A2158CEC1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7524456"/>
              </p:ext>
            </p:extLst>
          </p:nvPr>
        </p:nvGraphicFramePr>
        <p:xfrm>
          <a:off x="8137012" y="2023950"/>
          <a:ext cx="3690376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703">
                  <a:extLst>
                    <a:ext uri="{9D8B030D-6E8A-4147-A177-3AD203B41FA5}">
                      <a16:colId xmlns:a16="http://schemas.microsoft.com/office/drawing/2014/main" val="1303422274"/>
                    </a:ext>
                  </a:extLst>
                </a:gridCol>
                <a:gridCol w="1484673">
                  <a:extLst>
                    <a:ext uri="{9D8B030D-6E8A-4147-A177-3AD203B41FA5}">
                      <a16:colId xmlns:a16="http://schemas.microsoft.com/office/drawing/2014/main" val="3268128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Servo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Arduino Pin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2140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PWM (Orange Wire)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3557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GND (Brown Wire)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GND (Breadboard)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797599"/>
                  </a:ext>
                </a:extLst>
              </a:tr>
              <a:tr h="386236">
                <a:tc>
                  <a:txBody>
                    <a:bodyPr/>
                    <a:lstStyle/>
                    <a:p>
                      <a:r>
                        <a:rPr lang="en-GB" dirty="0"/>
                        <a:t>5V (Red Wire)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5V (Breadboard)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08992"/>
                  </a:ext>
                </a:extLst>
              </a:tr>
            </a:tbl>
          </a:graphicData>
        </a:graphic>
      </p:graphicFrame>
      <p:pic>
        <p:nvPicPr>
          <p:cNvPr id="4" name="Picture 3" descr="A circuit board with wires and a circuit board&#10;&#10;AI-generated content may be incorrect.">
            <a:extLst>
              <a:ext uri="{FF2B5EF4-FFF2-40B4-BE49-F238E27FC236}">
                <a16:creationId xmlns:a16="http://schemas.microsoft.com/office/drawing/2014/main" id="{063ABE71-D9D2-A1A5-1757-6E2E4605E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61" y="1484671"/>
            <a:ext cx="7704084" cy="37302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76A32A-0019-563F-7F46-BB8B9B92CC7F}"/>
              </a:ext>
            </a:extLst>
          </p:cNvPr>
          <p:cNvSpPr txBox="1"/>
          <p:nvPr/>
        </p:nvSpPr>
        <p:spPr>
          <a:xfrm>
            <a:off x="8012226" y="1594147"/>
            <a:ext cx="35763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b="1" dirty="0">
                <a:solidFill>
                  <a:srgbClr val="00B0F0"/>
                </a:solidFill>
              </a:rPr>
              <a:t>Connections: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CEF6A35-CE3F-042C-1395-3462AAEAFC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1798" y="4084672"/>
            <a:ext cx="3690375" cy="27733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60A1B4-3F26-4358-F378-9E33EC6C0F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444" y="4432185"/>
            <a:ext cx="4295755" cy="23116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849A0C6-9636-1942-C1E6-8012F00E46C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BB35A18-BDA8-8A4D-5FE3-E8939D35B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47E82A0-D166-6CEB-411D-E6FACD648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4547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B4DDB-D793-22CD-A4E7-1359CDE16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MFL01 : Servo Motor Control </a:t>
            </a:r>
          </a:p>
        </p:txBody>
      </p:sp>
      <p:sp>
        <p:nvSpPr>
          <p:cNvPr id="4" name="TextBox 18">
            <a:extLst>
              <a:ext uri="{FF2B5EF4-FFF2-40B4-BE49-F238E27FC236}">
                <a16:creationId xmlns:a16="http://schemas.microsoft.com/office/drawing/2014/main" id="{0C9EEC34-F7D4-8FF7-3484-FB568275CE52}"/>
              </a:ext>
            </a:extLst>
          </p:cNvPr>
          <p:cNvSpPr txBox="1"/>
          <p:nvPr/>
        </p:nvSpPr>
        <p:spPr>
          <a:xfrm>
            <a:off x="1002422" y="1945286"/>
            <a:ext cx="4582768" cy="2308324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Include servo library</a:t>
            </a:r>
          </a:p>
          <a:p>
            <a:r>
              <a:rPr lang="en-GB" dirty="0"/>
              <a:t>setup()</a:t>
            </a:r>
          </a:p>
          <a:p>
            <a:r>
              <a:rPr lang="en-GB" dirty="0"/>
              <a:t>    • attach servo to pin 11</a:t>
            </a:r>
          </a:p>
          <a:p>
            <a:r>
              <a:rPr lang="en-GB" dirty="0"/>
              <a:t>loop()</a:t>
            </a:r>
          </a:p>
          <a:p>
            <a:r>
              <a:rPr lang="en-GB" dirty="0"/>
              <a:t>    • Move the servo from 0 to 180 degrees in   the steps of 10 degrees  </a:t>
            </a:r>
          </a:p>
          <a:p>
            <a:r>
              <a:rPr lang="en-GB" dirty="0"/>
              <a:t>    • Move the servo back from 180 to 0 degrees in the steps of 10 degrees </a:t>
            </a: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AF6B79BA-8F9E-3F2B-CDEB-B8ACB0592574}"/>
              </a:ext>
            </a:extLst>
          </p:cNvPr>
          <p:cNvSpPr txBox="1"/>
          <p:nvPr/>
        </p:nvSpPr>
        <p:spPr>
          <a:xfrm>
            <a:off x="5899355" y="2543035"/>
            <a:ext cx="4582768" cy="1200329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defRPr/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hlinkClick r:id="rId2"/>
              </a:rPr>
              <a:t>https://github.com/info-zas/zas-robotics-motion/tree/main/01_FoundationProjects/MFL01_Servo_Control/MFL01_Servo</a:t>
            </a:r>
            <a:endParaRPr lang="en-GB" dirty="0"/>
          </a:p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6FF361-1450-787B-9579-0C65F93513B3}"/>
              </a:ext>
            </a:extLst>
          </p:cNvPr>
          <p:cNvSpPr txBox="1"/>
          <p:nvPr/>
        </p:nvSpPr>
        <p:spPr bwMode="auto">
          <a:xfrm>
            <a:off x="5753888" y="1945286"/>
            <a:ext cx="5599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MFL01 (MFL01_Servo.ino):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D81005-6801-7801-8D3D-AEA1C80CA4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D75826-3557-5951-2007-9A82E10ED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C0F12F-E727-23A3-37E2-1E75FFECF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6450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B6A0D-052E-16EE-700C-1872B9C43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MFL01 : Servo Motor Control </a:t>
            </a:r>
          </a:p>
        </p:txBody>
      </p:sp>
      <p:sp>
        <p:nvSpPr>
          <p:cNvPr id="4" name="TextBox 6">
            <a:extLst>
              <a:ext uri="{FF2B5EF4-FFF2-40B4-BE49-F238E27FC236}">
                <a16:creationId xmlns:a16="http://schemas.microsoft.com/office/drawing/2014/main" id="{5DD2F155-9B60-C9A0-43F0-6DB30791CAB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6005052" cy="105157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000" b="1" dirty="0"/>
              <a:t>Connect the Servo to Connector J14 in Motion Creative Board</a:t>
            </a:r>
          </a:p>
          <a:p>
            <a:r>
              <a:rPr lang="en-GB" sz="2000" b="1" dirty="0"/>
              <a:t>Execute the same code in the Motion Creative Board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922C80-B72E-7394-FB15-403C272114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5701" y="1690688"/>
            <a:ext cx="4885191" cy="476916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2F57CA9-11BE-5321-D7CF-9F0B8CD7C025}"/>
              </a:ext>
            </a:extLst>
          </p:cNvPr>
          <p:cNvSpPr/>
          <p:nvPr/>
        </p:nvSpPr>
        <p:spPr>
          <a:xfrm>
            <a:off x="8994708" y="2536721"/>
            <a:ext cx="2371386" cy="1641988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9620AD-03A1-367B-7D84-D8163791BEA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7569D3-7074-D11F-FC15-759E6BAC2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17F4ACC-8B0A-5070-633D-A6C848CDD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8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6233E9-5895-EF0C-2051-74148F404D04}"/>
              </a:ext>
            </a:extLst>
          </p:cNvPr>
          <p:cNvSpPr txBox="1"/>
          <p:nvPr/>
        </p:nvSpPr>
        <p:spPr bwMode="auto">
          <a:xfrm>
            <a:off x="781444" y="4075271"/>
            <a:ext cx="5599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MFL01 (MFL01_Servo.ino):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9B734C4A-BAA1-A748-90F7-704F42025FDB}"/>
              </a:ext>
            </a:extLst>
          </p:cNvPr>
          <p:cNvSpPr txBox="1"/>
          <p:nvPr/>
        </p:nvSpPr>
        <p:spPr>
          <a:xfrm>
            <a:off x="886692" y="4520921"/>
            <a:ext cx="4582768" cy="1477328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defRPr/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>
              <a:hlinkClick r:id="rId4"/>
            </a:endParaRPr>
          </a:p>
          <a:p>
            <a:r>
              <a:rPr lang="en-GB" dirty="0">
                <a:hlinkClick r:id="rId5"/>
              </a:rPr>
              <a:t>https://github.com/info-zas/zas-robotics-motion/tree/main/01_FoundationProjects/MFL01_Servo_Control/MFL01_Servo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44657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9E8AD-043D-82DE-D4A1-6655EAB57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MFL01 : Servo Motor Control </a:t>
            </a:r>
            <a:b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With Potentiometer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A4DEA-151A-E8DD-6485-08651AA3FF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2000" b="1" dirty="0"/>
              <a:t>Execute the code to control the servo motor with </a:t>
            </a:r>
          </a:p>
          <a:p>
            <a:pPr marL="0" indent="0">
              <a:buNone/>
            </a:pPr>
            <a:r>
              <a:rPr lang="en-GB" sz="2000" b="1" dirty="0"/>
              <a:t>potentiometer</a:t>
            </a:r>
          </a:p>
          <a:p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E06F6F-888C-3853-3996-15B3AAD8D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5701" y="1690688"/>
            <a:ext cx="4885191" cy="476916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72F60BF-7B3D-314A-5E8E-1738AE5B1C82}"/>
              </a:ext>
            </a:extLst>
          </p:cNvPr>
          <p:cNvSpPr/>
          <p:nvPr/>
        </p:nvSpPr>
        <p:spPr>
          <a:xfrm>
            <a:off x="9240511" y="2271252"/>
            <a:ext cx="2371386" cy="1809135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B2AAD0-2F55-6125-026B-8F8DF935F42A}"/>
              </a:ext>
            </a:extLst>
          </p:cNvPr>
          <p:cNvSpPr/>
          <p:nvPr/>
        </p:nvSpPr>
        <p:spPr>
          <a:xfrm>
            <a:off x="8383227" y="4758812"/>
            <a:ext cx="521110" cy="560439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573733-AA9F-4E6C-B5FD-0027F0F1B72A}"/>
              </a:ext>
            </a:extLst>
          </p:cNvPr>
          <p:cNvSpPr txBox="1"/>
          <p:nvPr/>
        </p:nvSpPr>
        <p:spPr>
          <a:xfrm>
            <a:off x="771939" y="2651022"/>
            <a:ext cx="6096000" cy="2585323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>
              <a:defRPr/>
            </a:lvl1pPr>
          </a:lstStyle>
          <a:p>
            <a:r>
              <a:rPr lang="en-US" dirty="0"/>
              <a:t>Include </a:t>
            </a:r>
            <a:r>
              <a:rPr lang="en-US"/>
              <a:t>Servo library</a:t>
            </a:r>
            <a:endParaRPr lang="en-US" dirty="0"/>
          </a:p>
          <a:p>
            <a:r>
              <a:rPr lang="en-US"/>
              <a:t>setup()</a:t>
            </a:r>
            <a:endParaRPr lang="en-US" dirty="0"/>
          </a:p>
          <a:p>
            <a:r>
              <a:rPr lang="en-US" dirty="0"/>
              <a:t>Attach servo motor </a:t>
            </a:r>
            <a:r>
              <a:rPr lang="en-US"/>
              <a:t>to pin 11</a:t>
            </a:r>
            <a:endParaRPr lang="en-US" dirty="0"/>
          </a:p>
          <a:p>
            <a:r>
              <a:rPr lang="en-US"/>
              <a:t>loop()</a:t>
            </a:r>
            <a:endParaRPr lang="en-US" dirty="0"/>
          </a:p>
          <a:p>
            <a:r>
              <a:rPr lang="en-US" dirty="0"/>
              <a:t>Read potentiometer value </a:t>
            </a:r>
            <a:r>
              <a:rPr lang="en-US"/>
              <a:t>from </a:t>
            </a:r>
            <a:r>
              <a:rPr lang="en-US" dirty="0"/>
              <a:t>analog </a:t>
            </a:r>
            <a:r>
              <a:rPr lang="en-US"/>
              <a:t>pin A0</a:t>
            </a:r>
            <a:endParaRPr lang="en-US" dirty="0"/>
          </a:p>
          <a:p>
            <a:r>
              <a:rPr lang="en-US" dirty="0"/>
              <a:t>Convert potentiometer value (0–1023) to servo angle (0–180 degrees)</a:t>
            </a:r>
          </a:p>
          <a:p>
            <a:r>
              <a:rPr lang="en-US" dirty="0"/>
              <a:t>Move the servo to the calculated angle</a:t>
            </a:r>
          </a:p>
          <a:p>
            <a:r>
              <a:rPr lang="en-US" dirty="0"/>
              <a:t>Repeat continuously as the potentiometer is rotated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B014CA-0C56-2A13-9F4D-70C0724DEC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BC2D4134-6B96-5846-48C6-C6BF5A738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1538773-FC85-E31C-3F76-783B39A5E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9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4625C2-32F5-3735-913B-24E07055A3D4}"/>
              </a:ext>
            </a:extLst>
          </p:cNvPr>
          <p:cNvSpPr txBox="1"/>
          <p:nvPr/>
        </p:nvSpPr>
        <p:spPr bwMode="auto">
          <a:xfrm>
            <a:off x="771939" y="5236345"/>
            <a:ext cx="5599912" cy="14773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b="1" dirty="0"/>
              <a:t>Code for Lesson MFL01 (MFL01_Servo_Pot.ino):</a:t>
            </a:r>
          </a:p>
          <a:p>
            <a:pPr>
              <a:defRPr/>
            </a:pPr>
            <a:r>
              <a:rPr lang="en-GB" b="1" dirty="0">
                <a:hlinkClick r:id="rId4"/>
              </a:rPr>
              <a:t>https://github.com/info-zas/zas-robotics-motion/tree/main/01_FoundationProjects/MFL01_Servo_Control/MFL01_Servo_Pot</a:t>
            </a:r>
            <a:endParaRPr lang="en-GB" b="1" dirty="0"/>
          </a:p>
          <a:p>
            <a:pPr>
              <a:defRPr/>
            </a:pP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492234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A9320-7618-4925-BD60-D3E85CED0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GB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Applications of Servo Motors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01BDA4-240B-AE2F-D0A3-D4C86564B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051A33-5776-79EE-66A3-EA01F0232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10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4493F7-43C0-632C-21E5-01928FF9A48A}"/>
              </a:ext>
            </a:extLst>
          </p:cNvPr>
          <p:cNvSpPr txBox="1"/>
          <p:nvPr/>
        </p:nvSpPr>
        <p:spPr>
          <a:xfrm>
            <a:off x="838199" y="2137949"/>
            <a:ext cx="7647039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/>
              <a:t>Applications of Servo Motors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Robotics: Robot arms, pick-and-place systems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Industrial Automation: CNC machines, conveyor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Electronics Projects: Arduino-based motion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Automotive Systems: Power steering, headlamp positioning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Medical Equipment: Surgical robots, prosthetic limbs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Consumer Products: Remote-controlled toys, drones</a:t>
            </a:r>
          </a:p>
          <a:p>
            <a:pPr>
              <a:buNone/>
            </a:pPr>
            <a:r>
              <a:rPr lang="en-US" sz="2400" b="1" dirty="0"/>
              <a:t>Servo motors are used wherever precise position and motion control is required.</a:t>
            </a:r>
            <a:endParaRPr lang="en-US" sz="2400" dirty="0"/>
          </a:p>
        </p:txBody>
      </p:sp>
      <p:pic>
        <p:nvPicPr>
          <p:cNvPr id="9" name="Picture 8" descr="A blue and black robotic arm&#10;&#10;AI-generated content may be incorrect.">
            <a:extLst>
              <a:ext uri="{FF2B5EF4-FFF2-40B4-BE49-F238E27FC236}">
                <a16:creationId xmlns:a16="http://schemas.microsoft.com/office/drawing/2014/main" id="{0E552F85-CD48-C847-22CC-560B6C469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249264" y="1968763"/>
            <a:ext cx="3104535" cy="437676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0A51ABF-DF20-DAC6-F0D2-02FF6C187C4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618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1375</TotalTime>
  <Words>460</Words>
  <Application>Microsoft Office PowerPoint</Application>
  <PresentationFormat>Widescreen</PresentationFormat>
  <Paragraphs>87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Motion Kit (Kit 2)</vt:lpstr>
      <vt:lpstr>Motion Kit : Contents</vt:lpstr>
      <vt:lpstr>MFL01 : Servo Motor Control </vt:lpstr>
      <vt:lpstr>MFL01 : Servo Motor Control </vt:lpstr>
      <vt:lpstr>PowerPoint Presentation</vt:lpstr>
      <vt:lpstr>MFL01 : Servo Motor Control </vt:lpstr>
      <vt:lpstr>MFL01 : Servo Motor Control </vt:lpstr>
      <vt:lpstr>MFL01 : Servo Motor Control </vt:lpstr>
      <vt:lpstr>MFL01 : Servo Motor Control  With Potentiometer</vt:lpstr>
      <vt:lpstr>Applications of Servo Motors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31</cp:revision>
  <dcterms:created xsi:type="dcterms:W3CDTF">2025-12-15T19:48:42Z</dcterms:created>
  <dcterms:modified xsi:type="dcterms:W3CDTF">2026-01-18T00:45:28Z</dcterms:modified>
</cp:coreProperties>
</file>