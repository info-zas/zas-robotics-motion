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561" r:id="rId3"/>
    <p:sldId id="563" r:id="rId4"/>
    <p:sldId id="554" r:id="rId5"/>
    <p:sldId id="553" r:id="rId6"/>
    <p:sldId id="5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21" autoAdjust="0"/>
    <p:restoredTop sz="94660"/>
  </p:normalViewPr>
  <p:slideViewPr>
    <p:cSldViewPr snapToGrid="0">
      <p:cViewPr varScale="1">
        <p:scale>
          <a:sx n="78" d="100"/>
          <a:sy n="78" d="100"/>
        </p:scale>
        <p:origin x="58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A2F86-F018-07A4-84F1-52823A0DA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F94945-8A4A-B89E-20EE-CED3B09E5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82CEF-73B0-B114-17D9-FD9CFBDB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DF3B9-AF4C-79AC-69E5-3FC88C3F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62339-9E4C-3C72-3840-3F59CF5A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66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9C85-8CC8-C502-D9BD-81888779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9D557-0941-3C03-A0EB-6FE533DBB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2F304-F8E8-03F3-1473-9675C79F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E13BC-1F7A-01CE-6933-6123A0E2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25E2F-4221-3FBB-5CA9-CB06EB24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75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5EAC-9D8F-984C-5F6F-D44D78F5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CF8EE-9651-00E1-0047-7778BAA52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E7B9-F204-1F38-6180-1012050F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33031-E006-FDDA-90C5-6B4FAE43C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B437F-9D5D-8126-E6D2-97ADD3A4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86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E436-A01E-E2E9-7E18-8676C31F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4EF18-CF9F-A1AB-96C9-8F301991C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1F3F-C804-8B04-9089-B1398E417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B9D92-2C72-A151-8714-6022EEA8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A464E-0729-A1AA-C908-9799256E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4CDDE-89B2-B95A-172E-FECE1CD0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25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B5A0-72AD-1DDC-A234-35AC72C6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26CE9-F8DA-52F6-BF78-687D4B251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6D1C3-0770-F658-2647-2E52C4964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6F3F53-A490-3C3C-E723-12135D958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E8664-8847-28E1-C46A-2508C6070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21AB1-DA58-23E9-5406-7E9C3A4A3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22B9E8-5B2B-777C-F8DA-0323F0EF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5FE93-AA89-29A7-CEB7-9C61150A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26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4387-9B35-4330-B5EE-B487A30F5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453F9-B4BD-8150-AA72-B46835FC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F7FF8-4405-B091-7252-CDAB7BCD7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6D510-8080-308F-BF18-6029CB66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62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B337C-CAB8-3420-B338-703C4293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19144-7632-D6D4-488D-9CD181B4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916C5-B3B3-0445-D064-60E6852B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60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6796-8159-F1F0-4950-5C9AB88A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BE95C-0B48-D39C-1AD1-D609D277A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3276B-9214-85C0-340D-2C507AF03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3F23C-EABC-14C6-4722-60517C54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906D2-CCDE-B73B-19F4-6536B7B3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F9A00-CF7A-F7C1-97CB-D906215E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311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0843-A785-2541-37C6-B505BBFB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80070E-F261-BCDC-3012-5F23296D87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5E56C-D840-AD20-B2F3-032B35FC0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5A2E7-5A13-71DE-E1B0-8600E1D1F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98A68-63E2-F500-D96D-FCC6B8AF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D5C86-0C1F-F7D8-5727-363DE0D6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84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EF27-1BA6-FD09-88BB-573B3B3E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D442B-2C5A-42CA-3835-72529F668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E8B8-289E-8925-3A49-62AFA3A7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2A8E2-C62D-7FBE-5F8D-F60EDEA3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056AD-4328-E9F8-E466-3C5820D6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55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A4C10-D097-636E-DB3E-F4D2C1D24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E8D57-72F0-AFD6-F020-0A42C206C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AC474-2C3A-7997-8052-E8E9A04C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40EBA-B5F4-3F4E-C8DA-554E3ED2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2069E-279E-D105-B612-C748792C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84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5487B-84A7-B736-BF5A-C2B8032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11B38-50A9-9AC9-289A-21443F139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4DB94-94D0-0729-8FCA-F4D89ACC4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39CCE-83E9-1BA5-A2CB-01A1AB45E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A0CD5-E6BE-0CA8-E6B1-FD23463C9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85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info-zas/zas-robotics-motion/blob/main/01_FoundationProjects/MFL09/MFL09/MFL09.ino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nfo-zas/zas-robotics-motion/blob/main/01_FoundationProjects/MFL09/MFL09/MFL09.ino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nfo-zas/zas-robotics-motion/blob/main/01_FoundationProjects/MFL09/MFL09_a/MFL09_a.ino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(Kit 2)</a:t>
            </a:r>
            <a:endParaRPr lang="en-GB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Motion Foundation Lessons (MFL)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MFL09)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MFL09: Encoder Motor Control with TB6612</a:t>
            </a:r>
            <a:endParaRPr lang="en-GB" sz="3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: Contents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B8725-30A7-DF06-3E6C-C3098D29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0" y="1515540"/>
            <a:ext cx="5564757" cy="44214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02A98CD-9552-64C0-7C52-1BEE0A11E89A}"/>
              </a:ext>
            </a:extLst>
          </p:cNvPr>
          <p:cNvSpPr txBox="1"/>
          <p:nvPr/>
        </p:nvSpPr>
        <p:spPr>
          <a:xfrm>
            <a:off x="8308258" y="6053550"/>
            <a:ext cx="235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Creative Board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73E46A-76A9-AC08-1A72-507CE6EF5A4D}"/>
              </a:ext>
            </a:extLst>
          </p:cNvPr>
          <p:cNvSpPr txBox="1"/>
          <p:nvPr/>
        </p:nvSpPr>
        <p:spPr>
          <a:xfrm>
            <a:off x="2099187" y="5980856"/>
            <a:ext cx="2473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Kit Components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B81BE11-A2B7-14CF-67C1-5885E0C8F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574" y="1515540"/>
            <a:ext cx="4840544" cy="453801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B437B-9B56-87D4-CB28-02E745FB8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MFL09 :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Encoder Motor Control with TB6612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15ECC-B988-183B-0F8E-D2D210E73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TB6612, same motor driver as DC motor</a:t>
            </a:r>
          </a:p>
          <a:p>
            <a:r>
              <a:rPr lang="en-US" dirty="0"/>
              <a:t>DC motor → no feedback</a:t>
            </a:r>
          </a:p>
          <a:p>
            <a:r>
              <a:rPr lang="en-US" dirty="0"/>
              <a:t>Encoder motor → live pulses + direction</a:t>
            </a:r>
          </a:p>
          <a:p>
            <a:endParaRPr lang="en-GB" dirty="0"/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EAE4043A-DEEE-C1AC-F2B7-A7EF7633C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65023"/>
            <a:ext cx="6187976" cy="3375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60DB46-B1B7-51ED-117F-9B1F2624A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549129" y="1843770"/>
            <a:ext cx="2408129" cy="28425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AA71BB-BB94-9F50-BFCD-78BB2E18AF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5237" y="4952999"/>
            <a:ext cx="1110831" cy="109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064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009162-A8C6-AAA3-354C-48ACA3179781}"/>
              </a:ext>
            </a:extLst>
          </p:cNvPr>
          <p:cNvSpPr txBox="1"/>
          <p:nvPr/>
        </p:nvSpPr>
        <p:spPr>
          <a:xfrm>
            <a:off x="1141223" y="4725110"/>
            <a:ext cx="4309253" cy="120032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https://github.com/info-zas/zas-robotics-motion/blob/main/01_FoundationProjects/MFL09/MFL09/MFL09.ino</a:t>
            </a:r>
            <a:endParaRPr lang="en-GB" dirty="0"/>
          </a:p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742D0-3030-282B-5A3C-2DE19783B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4A266-1F65-304A-A057-514285F9E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4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7DF16E-C74A-469D-CC6C-7B12E4AA3D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F1952A-9825-9A94-1240-15F95EA276B5}"/>
              </a:ext>
            </a:extLst>
          </p:cNvPr>
          <p:cNvSpPr txBox="1"/>
          <p:nvPr/>
        </p:nvSpPr>
        <p:spPr bwMode="auto">
          <a:xfrm>
            <a:off x="1141223" y="4294199"/>
            <a:ext cx="388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MFL09 (MFL09.ino):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5A1F5F-8F61-E6E2-D55B-B795ECA9B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501285" cy="1325563"/>
          </a:xfrm>
        </p:spPr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MFL09 :</a:t>
            </a:r>
            <a:r>
              <a:rPr lang="en-GB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Encoder Motor Control with TB6612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DD15F1-EA08-2D3C-968B-4A9FB9C7038A}"/>
              </a:ext>
            </a:extLst>
          </p:cNvPr>
          <p:cNvSpPr txBox="1"/>
          <p:nvPr/>
        </p:nvSpPr>
        <p:spPr>
          <a:xfrm>
            <a:off x="6831872" y="1690688"/>
            <a:ext cx="4758179" cy="480131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b="1" dirty="0"/>
              <a:t>Include required libraries</a:t>
            </a:r>
            <a:endParaRPr lang="en-GB" dirty="0"/>
          </a:p>
          <a:p>
            <a:r>
              <a:rPr lang="en-GB" dirty="0"/>
              <a:t>Wire library</a:t>
            </a:r>
          </a:p>
          <a:p>
            <a:r>
              <a:rPr lang="en-GB" dirty="0"/>
              <a:t>OLED display libraries</a:t>
            </a:r>
          </a:p>
          <a:p>
            <a:r>
              <a:rPr lang="en-GB" b="1" dirty="0"/>
              <a:t>Define pin connections</a:t>
            </a:r>
            <a:endParaRPr lang="en-GB" dirty="0"/>
          </a:p>
          <a:p>
            <a:r>
              <a:rPr lang="en-GB" dirty="0"/>
              <a:t>TB6612 motor driver pins (PWMA, AIN1, AIN2)</a:t>
            </a:r>
          </a:p>
          <a:p>
            <a:r>
              <a:rPr lang="en-GB" dirty="0"/>
              <a:t>OLED I2C pins</a:t>
            </a:r>
          </a:p>
          <a:p>
            <a:r>
              <a:rPr lang="en-GB" b="1" dirty="0"/>
              <a:t>setup()</a:t>
            </a:r>
            <a:endParaRPr lang="en-GB" dirty="0"/>
          </a:p>
          <a:p>
            <a:r>
              <a:rPr lang="en-GB" dirty="0"/>
              <a:t>Set motor control pins as output</a:t>
            </a:r>
          </a:p>
          <a:p>
            <a:r>
              <a:rPr lang="en-GB" dirty="0"/>
              <a:t>Initialize serial communication</a:t>
            </a:r>
          </a:p>
          <a:p>
            <a:r>
              <a:rPr lang="en-GB" dirty="0"/>
              <a:t>Initialize OLED display</a:t>
            </a:r>
          </a:p>
          <a:p>
            <a:r>
              <a:rPr lang="en-GB" dirty="0"/>
              <a:t>Set initial motor direction and speed</a:t>
            </a:r>
          </a:p>
          <a:p>
            <a:r>
              <a:rPr lang="en-GB" b="1" dirty="0"/>
              <a:t>loop()</a:t>
            </a:r>
            <a:endParaRPr lang="en-GB" dirty="0"/>
          </a:p>
          <a:p>
            <a:r>
              <a:rPr lang="en-GB" dirty="0"/>
              <a:t>Rotate DC motor clockwise</a:t>
            </a:r>
          </a:p>
          <a:p>
            <a:r>
              <a:rPr lang="en-GB" dirty="0"/>
              <a:t>Display motor direction and speed on OLED</a:t>
            </a:r>
          </a:p>
          <a:p>
            <a:r>
              <a:rPr lang="en-GB" dirty="0"/>
              <a:t>Display same information on Serial Monitor</a:t>
            </a:r>
          </a:p>
          <a:p>
            <a:r>
              <a:rPr lang="en-GB" dirty="0"/>
              <a:t>Change motor direction after a fixed delay</a:t>
            </a:r>
          </a:p>
          <a:p>
            <a:r>
              <a:rPr lang="en-GB" dirty="0"/>
              <a:t>Repeat continuously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CB2ECA-E922-8726-A5A6-F8DC797433A8}"/>
              </a:ext>
            </a:extLst>
          </p:cNvPr>
          <p:cNvSpPr txBox="1"/>
          <p:nvPr/>
        </p:nvSpPr>
        <p:spPr>
          <a:xfrm>
            <a:off x="938784" y="2022947"/>
            <a:ext cx="61691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Control the encoder motor direction and speed same as DC motor with TB6612</a:t>
            </a:r>
          </a:p>
        </p:txBody>
      </p:sp>
    </p:spTree>
    <p:extLst>
      <p:ext uri="{BB962C8B-B14F-4D97-AF65-F5344CB8AC3E}">
        <p14:creationId xmlns:p14="http://schemas.microsoft.com/office/powerpoint/2010/main" val="3020718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0FE3C65-7FCF-BB9D-9837-E709F24B4E65}"/>
              </a:ext>
            </a:extLst>
          </p:cNvPr>
          <p:cNvSpPr txBox="1"/>
          <p:nvPr/>
        </p:nvSpPr>
        <p:spPr>
          <a:xfrm>
            <a:off x="606099" y="1542997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Execute the code (MFL09.ino) in the motion creative board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91E38-6DBF-FDF1-E941-4333B5DDC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E5424-51EB-5DB7-72F1-6579328B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5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D99489-FD0A-F53B-7556-D031BE8FEC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91C2BF-6BA2-9458-3577-3127D86117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7948" y="1449471"/>
            <a:ext cx="5470956" cy="532734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7ADCA91-4979-7967-74B1-C8285AA4D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234" y="381128"/>
            <a:ext cx="1119396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MFL09 :</a:t>
            </a:r>
            <a:r>
              <a:rPr lang="en-GB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Encoder Motor Control with TB6612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EAB6B6-661C-6608-6FE6-3A77CD5EE920}"/>
              </a:ext>
            </a:extLst>
          </p:cNvPr>
          <p:cNvSpPr/>
          <p:nvPr/>
        </p:nvSpPr>
        <p:spPr>
          <a:xfrm>
            <a:off x="7241128" y="1706691"/>
            <a:ext cx="2285416" cy="2137722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B78613-60D0-933E-0D78-D66839DDD23C}"/>
              </a:ext>
            </a:extLst>
          </p:cNvPr>
          <p:cNvSpPr/>
          <p:nvPr/>
        </p:nvSpPr>
        <p:spPr>
          <a:xfrm>
            <a:off x="7241128" y="3860538"/>
            <a:ext cx="1081548" cy="957072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EE6B0E-1C16-A5AD-1CE4-ACCEB3CB9021}"/>
              </a:ext>
            </a:extLst>
          </p:cNvPr>
          <p:cNvSpPr txBox="1"/>
          <p:nvPr/>
        </p:nvSpPr>
        <p:spPr>
          <a:xfrm>
            <a:off x="1141223" y="4725110"/>
            <a:ext cx="4309253" cy="120032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https://github.com/info-zas/zas-robotics-motion/blob/main/01_FoundationProjects/MFL09/MFL09/MFL09.ino</a:t>
            </a:r>
            <a:endParaRPr lang="en-GB" dirty="0"/>
          </a:p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2334F6-B1EC-0BD9-FD26-A66B07EDDA88}"/>
              </a:ext>
            </a:extLst>
          </p:cNvPr>
          <p:cNvSpPr txBox="1"/>
          <p:nvPr/>
        </p:nvSpPr>
        <p:spPr bwMode="auto">
          <a:xfrm>
            <a:off x="1141223" y="4294199"/>
            <a:ext cx="388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MFL09 (MFL09.ino):</a:t>
            </a:r>
          </a:p>
        </p:txBody>
      </p:sp>
    </p:spTree>
    <p:extLst>
      <p:ext uri="{BB962C8B-B14F-4D97-AF65-F5344CB8AC3E}">
        <p14:creationId xmlns:p14="http://schemas.microsoft.com/office/powerpoint/2010/main" val="3149508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6D014-F7EF-AA72-B039-9F3F89263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MFL09_a : </a:t>
            </a:r>
            <a:b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Encoder Motor Control with TB6612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AF44DE-AD69-33E4-4F8A-59507C2DE937}"/>
              </a:ext>
            </a:extLst>
          </p:cNvPr>
          <p:cNvSpPr txBox="1"/>
          <p:nvPr/>
        </p:nvSpPr>
        <p:spPr bwMode="auto">
          <a:xfrm>
            <a:off x="1114480" y="4340364"/>
            <a:ext cx="3883520" cy="230832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MFL09_a (MFL09_a.ino):</a:t>
            </a:r>
          </a:p>
          <a:p>
            <a:pPr>
              <a:defRPr/>
            </a:pPr>
            <a:endParaRPr lang="en-GB" b="1" dirty="0"/>
          </a:p>
          <a:p>
            <a:pPr>
              <a:defRPr/>
            </a:pPr>
            <a:r>
              <a:rPr lang="en-GB" b="1" dirty="0">
                <a:hlinkClick r:id="rId2"/>
              </a:rPr>
              <a:t>https://github.com/info-zas/zas-robotics-motion/blob/main/01_FoundationProjects/MFL09/MFL09_a/MFL09_a.ino</a:t>
            </a:r>
            <a:endParaRPr lang="en-GB" b="1" dirty="0"/>
          </a:p>
          <a:p>
            <a:pPr>
              <a:defRPr/>
            </a:pPr>
            <a:endParaRPr lang="en-GB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5E24DE-F639-1478-4D57-68B46FDEF733}"/>
              </a:ext>
            </a:extLst>
          </p:cNvPr>
          <p:cNvSpPr txBox="1"/>
          <p:nvPr/>
        </p:nvSpPr>
        <p:spPr>
          <a:xfrm>
            <a:off x="938784" y="2022947"/>
            <a:ext cx="46817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Remove TB6612 from </a:t>
            </a:r>
            <a:r>
              <a:rPr lang="en-US" sz="2400"/>
              <a:t>the creativity 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Control the encoder motor direction and speed with hand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Check the DIRECTION and TICKS in the serial monitor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C8B0C-2F6A-0277-E609-1C5FAA827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7620" y="1835457"/>
            <a:ext cx="5405284" cy="4351338"/>
          </a:xfrm>
          <a:ln w="38100"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r>
              <a:rPr lang="en-US" sz="1800" dirty="0"/>
              <a:t>The INT, </a:t>
            </a:r>
            <a:r>
              <a:rPr lang="en-US" sz="1800" b="1" dirty="0"/>
              <a:t>DIR pin is an OUTPUT from the encoder</a:t>
            </a:r>
          </a:p>
          <a:p>
            <a:r>
              <a:rPr lang="en-US" sz="1800" b="1" dirty="0"/>
              <a:t>Encoder motors provide feedback, unlike normal DC motors.</a:t>
            </a:r>
            <a:endParaRPr lang="en-US" sz="1800" dirty="0"/>
          </a:p>
          <a:p>
            <a:r>
              <a:rPr lang="en-US" sz="1800" b="1" dirty="0"/>
              <a:t>INT (Interrupt / Pulse Pin):</a:t>
            </a:r>
            <a:endParaRPr lang="en-US" sz="1800" dirty="0"/>
          </a:p>
          <a:p>
            <a:pPr lvl="1"/>
            <a:r>
              <a:rPr lang="en-US" sz="1800" dirty="0"/>
              <a:t>Generates pulses when the motor shaft rotates</a:t>
            </a:r>
          </a:p>
          <a:p>
            <a:pPr lvl="1"/>
            <a:r>
              <a:rPr lang="en-US" sz="1800" dirty="0"/>
              <a:t>Each pulse represents a small movement (tick)</a:t>
            </a:r>
          </a:p>
          <a:p>
            <a:pPr lvl="1"/>
            <a:r>
              <a:rPr lang="en-US" sz="1800" dirty="0"/>
              <a:t>Used to measure speed, distance, and position</a:t>
            </a:r>
          </a:p>
          <a:p>
            <a:r>
              <a:rPr lang="en-US" sz="1800" b="1" dirty="0"/>
              <a:t>DIR (Direction Pin):</a:t>
            </a:r>
            <a:endParaRPr lang="en-US" sz="1800" dirty="0"/>
          </a:p>
          <a:p>
            <a:pPr lvl="1"/>
            <a:r>
              <a:rPr lang="en-US" sz="1800" dirty="0"/>
              <a:t>Indicates the direction of motor rotation</a:t>
            </a:r>
          </a:p>
          <a:p>
            <a:pPr lvl="1"/>
            <a:r>
              <a:rPr lang="en-US" sz="1800" dirty="0"/>
              <a:t>HIGH → Clockwise (CW)</a:t>
            </a:r>
          </a:p>
          <a:p>
            <a:pPr lvl="1"/>
            <a:r>
              <a:rPr lang="en-US" sz="1800" dirty="0"/>
              <a:t>LOW → Anti-clockwise (CCW)</a:t>
            </a:r>
          </a:p>
          <a:p>
            <a:r>
              <a:rPr lang="en-US" sz="1800" b="1" dirty="0"/>
              <a:t>How they work together:</a:t>
            </a:r>
            <a:endParaRPr lang="en-US" sz="1800" dirty="0"/>
          </a:p>
          <a:p>
            <a:pPr lvl="1"/>
            <a:r>
              <a:rPr lang="en-US" sz="1800" dirty="0"/>
              <a:t>INT tells </a:t>
            </a:r>
            <a:r>
              <a:rPr lang="en-US" sz="1800" i="1" dirty="0"/>
              <a:t>how much</a:t>
            </a:r>
            <a:r>
              <a:rPr lang="en-US" sz="1800" dirty="0"/>
              <a:t> the motor moved</a:t>
            </a:r>
          </a:p>
          <a:p>
            <a:pPr lvl="1"/>
            <a:r>
              <a:rPr lang="en-US" sz="1800" dirty="0"/>
              <a:t>DIR tells </a:t>
            </a:r>
            <a:r>
              <a:rPr lang="en-US" sz="1800" i="1" dirty="0"/>
              <a:t>which direction</a:t>
            </a:r>
            <a:r>
              <a:rPr lang="en-US" sz="1800" dirty="0"/>
              <a:t> the motor moved</a:t>
            </a:r>
          </a:p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848045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1136</TotalTime>
  <Words>420</Words>
  <Application>Microsoft Office PowerPoint</Application>
  <PresentationFormat>Widescreen</PresentationFormat>
  <Paragraphs>62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Motion Kit (Kit 2)</vt:lpstr>
      <vt:lpstr>Motion Kit : Contents</vt:lpstr>
      <vt:lpstr>MFL09 : Encoder Motor Control with TB6612</vt:lpstr>
      <vt:lpstr>MFL09 : Encoder Motor Control with TB6612</vt:lpstr>
      <vt:lpstr>MFL09 : Encoder Motor Control with TB6612</vt:lpstr>
      <vt:lpstr>MFL09_a :  Encoder Motor Control with TB6612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48</cp:revision>
  <dcterms:created xsi:type="dcterms:W3CDTF">2025-12-15T22:48:27Z</dcterms:created>
  <dcterms:modified xsi:type="dcterms:W3CDTF">2025-12-26T19:43:02Z</dcterms:modified>
</cp:coreProperties>
</file>