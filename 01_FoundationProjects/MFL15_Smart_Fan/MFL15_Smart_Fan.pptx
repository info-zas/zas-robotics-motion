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561" r:id="rId3"/>
    <p:sldId id="554" r:id="rId4"/>
    <p:sldId id="553" r:id="rId5"/>
    <p:sldId id="5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A2F86-F018-07A4-84F1-52823A0DA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94945-8A4A-B89E-20EE-CED3B09E56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82CEF-73B0-B114-17D9-FD9CFBDB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F3B9-AF4C-79AC-69E5-3FC88C3F6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62339-9E4C-3C72-3840-3F59CF5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866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E9C85-8CC8-C502-D9BD-81888779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9D557-0941-3C03-A0EB-6FE533DBB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12F304-F8E8-03F3-1473-9675C79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E13BC-1F7A-01CE-6933-6123A0E2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25E2F-4221-3FBB-5CA9-CB06EB24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7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35EAC-9D8F-984C-5F6F-D44D78F5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CF8EE-9651-00E1-0047-7778BAA5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3E7B9-F204-1F38-6180-1012050F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3031-E006-FDDA-90C5-6B4FAE43C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B437F-9D5D-8126-E6D2-97ADD3A42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5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FE436-A01E-E2E9-7E18-8676C31F6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4EF18-CF9F-A1AB-96C9-8F301991C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1F3F-C804-8B04-9089-B1398E417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B9D92-2C72-A151-8714-6022EEA8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A464E-0729-A1AA-C908-9799256E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4CDDE-89B2-B95A-172E-FECE1CD0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2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8B5A0-72AD-1DDC-A234-35AC72C6F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26CE9-F8DA-52F6-BF78-687D4B251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6D1C3-0770-F658-2647-2E52C4964A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6F3F53-A490-3C3C-E723-12135D9585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2E8664-8847-28E1-C46A-2508C6070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021AB1-DA58-23E9-5406-7E9C3A4A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22B9E8-5B2B-777C-F8DA-0323F0EFE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5FE93-AA89-29A7-CEB7-9C61150A6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6269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4387-9B35-4330-B5EE-B487A30F5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453F9-B4BD-8150-AA72-B46835FC3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F7FF8-4405-B091-7252-CDAB7BCD7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76D510-8080-308F-BF18-6029CB661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62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B337C-CAB8-3420-B338-703C4293F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119144-7632-D6D4-488D-9CD181B44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916C5-B3B3-0445-D064-60E6852B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600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46796-8159-F1F0-4950-5C9AB88AA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E95C-0B48-D39C-1AD1-D609D277A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3276B-9214-85C0-340D-2C507AF03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3F23C-EABC-14C6-4722-60517C54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906D2-CCDE-B73B-19F4-6536B7B3B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F9A00-CF7A-F7C1-97CB-D906215E4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11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0843-A785-2541-37C6-B505BBFB0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80070E-F261-BCDC-3012-5F23296D87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5E56C-D840-AD20-B2F3-032B35FC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5A2E7-5A13-71DE-E1B0-8600E1D1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698A68-63E2-F500-D96D-FCC6B8AF0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CD5C86-0C1F-F7D8-5727-363DE0D6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84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EF27-1BA6-FD09-88BB-573B3B3EC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D442B-2C5A-42CA-3835-72529F668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E8B8-289E-8925-3A49-62AFA3A7D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2A8E2-C62D-7FBE-5F8D-F60EDEA38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056AD-4328-E9F8-E466-3C5820D6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0556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EA4C10-D097-636E-DB3E-F4D2C1D24A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E8D57-72F0-AFD6-F020-0A42C206C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AC474-2C3A-7997-8052-E8E9A04C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49E3-AEF5-412D-9F98-5201579F9569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40EBA-B5F4-3F4E-C8DA-554E3ED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2069E-279E-D105-B612-C748792CA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84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65487B-84A7-B736-BF5A-C2B803265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11B38-50A9-9AC9-289A-21443F1394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4DB94-94D0-0729-8FCA-F4D89ACC45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049E3-AEF5-412D-9F98-5201579F9569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39CCE-83E9-1BA5-A2CB-01A1AB45E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A0CD5-E6BE-0CA8-E6B1-FD23463C9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A0FDCF-6711-4805-BB8A-DD98E3AA556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285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info-zas/zas-robotics-motion/blob/main/01_FoundationProjects/MFL15/MFL15/MFL15.in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nfo-zas/zas-robotics-motion/blob/main/01_FoundationProjects/MFL15/MFL15_a/MFL15_a.ino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(Kit 2)</a:t>
            </a:r>
            <a:endParaRPr lang="en-GB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Motion Foundation Lessons (MFL)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MFL15)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MFL15: Mini Project: Smart Fan</a:t>
            </a:r>
            <a:endParaRPr lang="en-GB" sz="3600" b="1" dirty="0">
              <a:solidFill>
                <a:srgbClr val="00B0F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1231A1-0766-5672-4948-6E397DDDCA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Motion Kit : Contents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FAB8725-30A7-DF06-3E6C-C3098D29C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380" y="1515540"/>
            <a:ext cx="5564757" cy="442142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2A98CD-9552-64C0-7C52-1BEE0A11E89A}"/>
              </a:ext>
            </a:extLst>
          </p:cNvPr>
          <p:cNvSpPr txBox="1"/>
          <p:nvPr/>
        </p:nvSpPr>
        <p:spPr>
          <a:xfrm>
            <a:off x="8308258" y="6053550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Creative 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73E46A-76A9-AC08-1A72-507CE6EF5A4D}"/>
              </a:ext>
            </a:extLst>
          </p:cNvPr>
          <p:cNvSpPr txBox="1"/>
          <p:nvPr/>
        </p:nvSpPr>
        <p:spPr>
          <a:xfrm>
            <a:off x="2099187" y="5980856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Motion Kit Components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0B81BE11-A2B7-14CF-67C1-5885E0C8F7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1574" y="1515540"/>
            <a:ext cx="4840544" cy="453801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1799F-1CAE-40B2-0C67-E27BC4C4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MFL15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Smart Fan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93EFCA-E3AB-AEA4-5037-53A1BE723E2A}"/>
              </a:ext>
            </a:extLst>
          </p:cNvPr>
          <p:cNvSpPr txBox="1"/>
          <p:nvPr/>
        </p:nvSpPr>
        <p:spPr>
          <a:xfrm>
            <a:off x="7606641" y="1315018"/>
            <a:ext cx="3747159" cy="4708981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/>
              <a:t>Include required libraries</a:t>
            </a:r>
          </a:p>
          <a:p>
            <a:r>
              <a:rPr lang="en-GB" sz="1200" dirty="0"/>
              <a:t>Wire, Adafruit GFX, Adafruit SSD1306</a:t>
            </a:r>
          </a:p>
          <a:p>
            <a:r>
              <a:rPr lang="en-GB" sz="1200" dirty="0"/>
              <a:t>Define pin connections</a:t>
            </a:r>
          </a:p>
          <a:p>
            <a:r>
              <a:rPr lang="en-GB" sz="1200" dirty="0"/>
              <a:t>DC motor driver pins (AIN1, AIN2, PWMA)</a:t>
            </a:r>
          </a:p>
          <a:p>
            <a:r>
              <a:rPr lang="en-GB" sz="1200" dirty="0"/>
              <a:t>Ultrasonic trigger and echo pins</a:t>
            </a:r>
          </a:p>
          <a:p>
            <a:r>
              <a:rPr lang="en-GB" sz="1200" dirty="0"/>
              <a:t>MQ135 air quality sensor pin</a:t>
            </a:r>
          </a:p>
          <a:p>
            <a:endParaRPr lang="en-GB" sz="1200" dirty="0"/>
          </a:p>
          <a:p>
            <a:r>
              <a:rPr lang="en-GB" sz="1200" dirty="0"/>
              <a:t>setup()</a:t>
            </a:r>
          </a:p>
          <a:p>
            <a:r>
              <a:rPr lang="en-GB" sz="1200" dirty="0"/>
              <a:t>Configure motor and sensor pins</a:t>
            </a:r>
          </a:p>
          <a:p>
            <a:r>
              <a:rPr lang="en-GB" sz="1200" dirty="0"/>
              <a:t>Initialize Serial and OLED display</a:t>
            </a:r>
          </a:p>
          <a:p>
            <a:r>
              <a:rPr lang="en-GB" sz="1200" dirty="0"/>
              <a:t>Show startup message</a:t>
            </a:r>
          </a:p>
          <a:p>
            <a:endParaRPr lang="en-GB" sz="1200" dirty="0"/>
          </a:p>
          <a:p>
            <a:r>
              <a:rPr lang="en-GB" sz="1200" dirty="0"/>
              <a:t>loop()</a:t>
            </a:r>
          </a:p>
          <a:p>
            <a:r>
              <a:rPr lang="en-GB" sz="1200" dirty="0"/>
              <a:t>Read distance and air quality</a:t>
            </a:r>
          </a:p>
          <a:p>
            <a:r>
              <a:rPr lang="en-GB" sz="1200" dirty="0"/>
              <a:t>Control motor based on priority logic</a:t>
            </a:r>
          </a:p>
          <a:p>
            <a:r>
              <a:rPr lang="en-GB" sz="1200" dirty="0"/>
              <a:t>– High pollution → motor CCW</a:t>
            </a:r>
          </a:p>
          <a:p>
            <a:r>
              <a:rPr lang="en-GB" sz="1200" dirty="0"/>
              <a:t>– Obstacle detected → motor CW</a:t>
            </a:r>
          </a:p>
          <a:p>
            <a:r>
              <a:rPr lang="en-GB" sz="1200" dirty="0"/>
              <a:t>– Otherwise → motor stop</a:t>
            </a:r>
          </a:p>
          <a:p>
            <a:r>
              <a:rPr lang="en-GB" sz="1200" dirty="0"/>
              <a:t>Display sensor values on OLED</a:t>
            </a:r>
          </a:p>
          <a:p>
            <a:r>
              <a:rPr lang="en-GB" sz="1200" dirty="0"/>
              <a:t>Repeat continuously</a:t>
            </a:r>
          </a:p>
          <a:p>
            <a:endParaRPr lang="en-GB" sz="1200" dirty="0"/>
          </a:p>
          <a:p>
            <a:r>
              <a:rPr lang="en-GB" sz="1200" dirty="0"/>
              <a:t>Functions</a:t>
            </a:r>
          </a:p>
          <a:p>
            <a:r>
              <a:rPr lang="en-GB" sz="1200" dirty="0" err="1"/>
              <a:t>getDistance</a:t>
            </a:r>
            <a:r>
              <a:rPr lang="en-GB" sz="1200" dirty="0"/>
              <a:t>(): measure distance using ultrasonic sensor</a:t>
            </a:r>
          </a:p>
          <a:p>
            <a:r>
              <a:rPr lang="en-GB" sz="1200" dirty="0" err="1"/>
              <a:t>cw</a:t>
            </a:r>
            <a:r>
              <a:rPr lang="en-GB" sz="1200" dirty="0"/>
              <a:t>(), </a:t>
            </a:r>
            <a:r>
              <a:rPr lang="en-GB" sz="1200" dirty="0" err="1"/>
              <a:t>ccw</a:t>
            </a:r>
            <a:r>
              <a:rPr lang="en-GB" sz="1200" dirty="0"/>
              <a:t>(), </a:t>
            </a:r>
            <a:r>
              <a:rPr lang="en-GB" sz="1200" dirty="0" err="1"/>
              <a:t>stopMotor</a:t>
            </a:r>
            <a:r>
              <a:rPr lang="en-GB" sz="1200" dirty="0"/>
              <a:t>(): control DC motor direction and speed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009162-A8C6-AAA3-354C-48ACA3179781}"/>
              </a:ext>
            </a:extLst>
          </p:cNvPr>
          <p:cNvSpPr txBox="1"/>
          <p:nvPr/>
        </p:nvSpPr>
        <p:spPr>
          <a:xfrm>
            <a:off x="838200" y="5124230"/>
            <a:ext cx="4309253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MFL15 </a:t>
            </a:r>
            <a:r>
              <a:rPr lang="sv-SE" b="1" dirty="0"/>
              <a:t>(MFL15.ino)</a:t>
            </a:r>
            <a:endParaRPr lang="en-GB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742D0-3030-282B-5A3C-2DE19783B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4A266-1F65-304A-A057-514285F9E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DF16E-C74A-469D-CC6C-7B12E4AA3D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1CCC64-6935-F2E5-D170-A9EB2E4B51B2}"/>
              </a:ext>
            </a:extLst>
          </p:cNvPr>
          <p:cNvSpPr txBox="1"/>
          <p:nvPr/>
        </p:nvSpPr>
        <p:spPr>
          <a:xfrm>
            <a:off x="741511" y="1523590"/>
            <a:ext cx="501688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Place Ultrasonic Sensor Module in J25.</a:t>
            </a:r>
          </a:p>
          <a:p>
            <a:endParaRPr lang="en-US" sz="2000" b="1" dirty="0"/>
          </a:p>
          <a:p>
            <a:r>
              <a:rPr lang="en-US" sz="2000" b="1" dirty="0"/>
              <a:t>Place MQ-135 Air Quality Sensor in the</a:t>
            </a:r>
          </a:p>
          <a:p>
            <a:r>
              <a:rPr lang="en-US" sz="2000" b="1" dirty="0"/>
              <a:t>Mini Breadboard.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E498BF2-4EFD-109B-A6F8-83FDDB49B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695396"/>
              </p:ext>
            </p:extLst>
          </p:nvPr>
        </p:nvGraphicFramePr>
        <p:xfrm>
          <a:off x="1276823" y="2824639"/>
          <a:ext cx="273336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Ultrasonic Sensor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Trig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18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2805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2E60175-D151-3F6A-8C0C-ABA1EB92C1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52334"/>
              </p:ext>
            </p:extLst>
          </p:nvPr>
        </p:nvGraphicFramePr>
        <p:xfrm>
          <a:off x="4278440" y="3023180"/>
          <a:ext cx="273336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MQ-135 Sensor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2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718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11E4713-79F1-2AC2-1C5A-822B2F036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961" y="1041347"/>
            <a:ext cx="5165940" cy="53150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4F81D-A1D0-931C-A3ED-15A81A939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MFL15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Smart Fan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E3C65-7FCF-BB9D-9837-E709F24B4E65}"/>
              </a:ext>
            </a:extLst>
          </p:cNvPr>
          <p:cNvSpPr txBox="1"/>
          <p:nvPr/>
        </p:nvSpPr>
        <p:spPr>
          <a:xfrm>
            <a:off x="606099" y="1542997"/>
            <a:ext cx="6093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/>
              <a:t>Execute the code (MFL15.ino) in the motion creative board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91E38-6DBF-FDF1-E941-4333B5DDC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E5424-51EB-5DB7-72F1-6579328B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4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D99489-FD0A-F53B-7556-D031BE8FEC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CD88451-50BB-6355-86EB-B8B091180342}"/>
              </a:ext>
            </a:extLst>
          </p:cNvPr>
          <p:cNvSpPr/>
          <p:nvPr/>
        </p:nvSpPr>
        <p:spPr>
          <a:xfrm rot="16200000">
            <a:off x="6791444" y="4565907"/>
            <a:ext cx="1325564" cy="914883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686B78-271D-F448-9D03-12B6F50A6778}"/>
              </a:ext>
            </a:extLst>
          </p:cNvPr>
          <p:cNvSpPr/>
          <p:nvPr/>
        </p:nvSpPr>
        <p:spPr>
          <a:xfrm rot="16200000">
            <a:off x="8091991" y="3420596"/>
            <a:ext cx="824948" cy="70260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64F05E-46C9-349E-0B54-238C785020A0}"/>
              </a:ext>
            </a:extLst>
          </p:cNvPr>
          <p:cNvSpPr/>
          <p:nvPr/>
        </p:nvSpPr>
        <p:spPr>
          <a:xfrm rot="16200000">
            <a:off x="10304683" y="2427502"/>
            <a:ext cx="1114021" cy="119624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680D8B-CE3E-E671-13EB-C881E4867469}"/>
              </a:ext>
            </a:extLst>
          </p:cNvPr>
          <p:cNvSpPr/>
          <p:nvPr/>
        </p:nvSpPr>
        <p:spPr>
          <a:xfrm rot="16200000">
            <a:off x="8794599" y="2083694"/>
            <a:ext cx="824948" cy="70260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1ACF3-4ED7-D4AB-75AD-AAB4B7D1614B}"/>
              </a:ext>
            </a:extLst>
          </p:cNvPr>
          <p:cNvSpPr txBox="1"/>
          <p:nvPr/>
        </p:nvSpPr>
        <p:spPr>
          <a:xfrm>
            <a:off x="838200" y="5124230"/>
            <a:ext cx="4309253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MFL15 </a:t>
            </a:r>
            <a:r>
              <a:rPr lang="sv-SE" b="1" dirty="0"/>
              <a:t>(MFL15.ino):</a:t>
            </a:r>
          </a:p>
          <a:p>
            <a:r>
              <a:rPr lang="en-GB" b="1" dirty="0">
                <a:hlinkClick r:id="rId4"/>
              </a:rPr>
              <a:t>https://github.com/info-zas/zas-robotics-motion/blob/main/01_FoundationProjects/MFL15/MFL15/MFL15.ino</a:t>
            </a:r>
            <a:endParaRPr lang="en-GB" b="1" dirty="0"/>
          </a:p>
          <a:p>
            <a:endParaRPr lang="en-GB" b="1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BD34896-C8B5-1AA1-4312-AACAD0B96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594246"/>
              </p:ext>
            </p:extLst>
          </p:nvPr>
        </p:nvGraphicFramePr>
        <p:xfrm>
          <a:off x="466505" y="2297706"/>
          <a:ext cx="2733368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Ultrasonic Sensor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Trig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Echo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9185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2805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3B619FB-8884-8465-C4A1-684495C46A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846066"/>
              </p:ext>
            </p:extLst>
          </p:nvPr>
        </p:nvGraphicFramePr>
        <p:xfrm>
          <a:off x="3468122" y="2496247"/>
          <a:ext cx="273336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84">
                  <a:extLst>
                    <a:ext uri="{9D8B030D-6E8A-4147-A177-3AD203B41FA5}">
                      <a16:colId xmlns:a16="http://schemas.microsoft.com/office/drawing/2014/main" val="2876487998"/>
                    </a:ext>
                  </a:extLst>
                </a:gridCol>
                <a:gridCol w="1366684">
                  <a:extLst>
                    <a:ext uri="{9D8B030D-6E8A-4147-A177-3AD203B41FA5}">
                      <a16:colId xmlns:a16="http://schemas.microsoft.com/office/drawing/2014/main" val="3422962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MQ-135 Sensor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Arduino UNO Pins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6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3.3V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26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579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028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9508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82AFF-D028-515F-BBD7-FFFE55C82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MFL15_a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Smart Fan with </a:t>
            </a:r>
            <a:r>
              <a:rPr lang="en-US" b="1" dirty="0" err="1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NeoPixel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Strip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F6729A-5D35-65A4-AF66-B5976188B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961" y="1041347"/>
            <a:ext cx="5165940" cy="531500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F66C37-F297-9903-2ABA-46675BCD5345}"/>
              </a:ext>
            </a:extLst>
          </p:cNvPr>
          <p:cNvSpPr/>
          <p:nvPr/>
        </p:nvSpPr>
        <p:spPr>
          <a:xfrm rot="16200000">
            <a:off x="6719596" y="4739863"/>
            <a:ext cx="1325564" cy="586634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C6C303-A8D6-72D4-BBE8-BA96958D499A}"/>
              </a:ext>
            </a:extLst>
          </p:cNvPr>
          <p:cNvSpPr/>
          <p:nvPr/>
        </p:nvSpPr>
        <p:spPr>
          <a:xfrm rot="16200000">
            <a:off x="8091991" y="3420596"/>
            <a:ext cx="824948" cy="70260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1BEB9B-5A95-FA1D-286D-47A52E50220F}"/>
              </a:ext>
            </a:extLst>
          </p:cNvPr>
          <p:cNvSpPr/>
          <p:nvPr/>
        </p:nvSpPr>
        <p:spPr>
          <a:xfrm rot="16200000">
            <a:off x="10304683" y="2427502"/>
            <a:ext cx="1114021" cy="119624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9708E4-9075-C85A-1B0F-9778131E4F87}"/>
              </a:ext>
            </a:extLst>
          </p:cNvPr>
          <p:cNvSpPr/>
          <p:nvPr/>
        </p:nvSpPr>
        <p:spPr>
          <a:xfrm rot="16200000">
            <a:off x="8794599" y="2083694"/>
            <a:ext cx="824948" cy="70260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D698EB-2EF6-3FF9-4053-98F22F72031B}"/>
              </a:ext>
            </a:extLst>
          </p:cNvPr>
          <p:cNvSpPr/>
          <p:nvPr/>
        </p:nvSpPr>
        <p:spPr>
          <a:xfrm rot="16200000">
            <a:off x="7537913" y="4077079"/>
            <a:ext cx="617601" cy="586634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C0AEFA-0B5F-2C74-BC56-84D410FEDF85}"/>
              </a:ext>
            </a:extLst>
          </p:cNvPr>
          <p:cNvSpPr txBox="1"/>
          <p:nvPr/>
        </p:nvSpPr>
        <p:spPr>
          <a:xfrm>
            <a:off x="993060" y="1506022"/>
            <a:ext cx="5426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Add </a:t>
            </a:r>
            <a:r>
              <a:rPr lang="en-US" sz="1800" b="1" dirty="0" err="1"/>
              <a:t>NeoPixel</a:t>
            </a:r>
            <a:r>
              <a:rPr lang="en-US" sz="1800" b="1" dirty="0"/>
              <a:t> strip in J15. (In addition to Ultrasonic Sensor a</a:t>
            </a:r>
            <a:r>
              <a:rPr lang="en-US" b="1" dirty="0"/>
              <a:t>nd Air Quality Sensor)</a:t>
            </a:r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032CF7-37C8-7E78-8DF8-E43ADE7A0ECB}"/>
              </a:ext>
            </a:extLst>
          </p:cNvPr>
          <p:cNvSpPr txBox="1"/>
          <p:nvPr/>
        </p:nvSpPr>
        <p:spPr>
          <a:xfrm>
            <a:off x="838200" y="5124230"/>
            <a:ext cx="4309253" cy="1477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Code for MFL15_a </a:t>
            </a:r>
            <a:r>
              <a:rPr lang="sv-SE" b="1" dirty="0"/>
              <a:t>(MFL15_a.ino):</a:t>
            </a:r>
          </a:p>
          <a:p>
            <a:r>
              <a:rPr lang="en-GB" b="1" dirty="0">
                <a:hlinkClick r:id="rId3"/>
              </a:rPr>
              <a:t>https://github.com/info-zas/zas-robotics-motion/blob/main/01_FoundationProjects/MFL15/MFL15_a/MFL15_a.ino</a:t>
            </a:r>
            <a:endParaRPr lang="en-GB" b="1" dirty="0"/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709614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345</Words>
  <Application>Microsoft Office PowerPoint</Application>
  <PresentationFormat>Widescreen</PresentationFormat>
  <Paragraphs>87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Motion Kit (Kit 2)</vt:lpstr>
      <vt:lpstr>Motion Kit : Contents</vt:lpstr>
      <vt:lpstr>MFL15 : Smart Fan</vt:lpstr>
      <vt:lpstr>MFL15 : Smart Fan</vt:lpstr>
      <vt:lpstr>MFL15_a : Smart Fan with NeoPixel Strip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31</cp:revision>
  <dcterms:created xsi:type="dcterms:W3CDTF">2025-12-15T22:48:27Z</dcterms:created>
  <dcterms:modified xsi:type="dcterms:W3CDTF">2026-01-11T23:51:17Z</dcterms:modified>
</cp:coreProperties>
</file>