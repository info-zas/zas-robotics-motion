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561" r:id="rId3"/>
    <p:sldId id="257" r:id="rId4"/>
    <p:sldId id="564" r:id="rId5"/>
    <p:sldId id="562" r:id="rId6"/>
    <p:sldId id="563" r:id="rId7"/>
    <p:sldId id="565" r:id="rId8"/>
    <p:sldId id="566" r:id="rId9"/>
    <p:sldId id="567" r:id="rId10"/>
    <p:sldId id="5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nfo-zas/zas-robotics-motion/blob/main/01_FoundationProjects/MFL01/MFL01/MFL01.ino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nfo-zas/zas-robotics-motion/blob/main/01_FoundationProjects/MFL01/MFL01/MFL01.ino" TargetMode="External"/><Relationship Id="rId4" Type="http://schemas.openxmlformats.org/officeDocument/2006/relationships/hyperlink" Target="https://github.com/info-zas/zas-robotics-motion/tree/main/01_FoundationProjects/MFL01/MFL0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01/MFL01_a/MFL01_a.ino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MFL01)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MFL01: Servo Motor Control with Potentiometer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992" y="2280402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7" y="4172245"/>
            <a:ext cx="2160798" cy="25931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072" y="3624934"/>
            <a:ext cx="3708949" cy="2552029"/>
          </a:xfrm>
          <a:prstGeom prst="rect">
            <a:avLst/>
          </a:prstGeom>
        </p:spPr>
      </p:pic>
      <p:pic>
        <p:nvPicPr>
          <p:cNvPr id="10" name="Picture 9" descr="A blue plastic device with a white valve&#10;&#10;AI-generated content may be incorrect.">
            <a:extLst>
              <a:ext uri="{FF2B5EF4-FFF2-40B4-BE49-F238E27FC236}">
                <a16:creationId xmlns:a16="http://schemas.microsoft.com/office/drawing/2014/main" id="{77E7AEF8-D28D-D64E-C934-6713E7A61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7801" y="1995230"/>
            <a:ext cx="2110923" cy="15622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01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2D33-65A5-4FB9-9137-7504FB0A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78E65-07E6-F1F7-DA43-51071FBE2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Servo Motor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03187E-54E7-CA7E-A24D-A38F3A42C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997" y="2502378"/>
            <a:ext cx="4914900" cy="3467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0E01F-2A27-153F-A306-EE2B316FD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0DC544E-7FC8-C6E9-CCE1-9B9F3719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11957-4CA3-F07B-AFC6-AB5C31B4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8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E767D63-2708-5F39-B16A-44A659E2758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pic>
        <p:nvPicPr>
          <p:cNvPr id="6" name="Picture 5" descr="A circuit board with wires connected to it&#10;&#10;AI-generated content may be incorrect.">
            <a:extLst>
              <a:ext uri="{FF2B5EF4-FFF2-40B4-BE49-F238E27FC236}">
                <a16:creationId xmlns:a16="http://schemas.microsoft.com/office/drawing/2014/main" id="{86C219EB-99DB-868C-7236-1351FB1AF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76" y="1812459"/>
            <a:ext cx="7616827" cy="374714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BDE3A80-6F10-1363-AFE7-61AF60763B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8D527-DBE7-0068-5D17-6D2FB204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58EC6-6FF4-E4CE-38D4-A66A530D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A67515-DC3E-1C9C-46AD-C4F663991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68335"/>
              </p:ext>
            </p:extLst>
          </p:nvPr>
        </p:nvGraphicFramePr>
        <p:xfrm>
          <a:off x="8190959" y="3122073"/>
          <a:ext cx="3690375" cy="112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703">
                  <a:extLst>
                    <a:ext uri="{9D8B030D-6E8A-4147-A177-3AD203B41FA5}">
                      <a16:colId xmlns:a16="http://schemas.microsoft.com/office/drawing/2014/main" val="1303422274"/>
                    </a:ext>
                  </a:extLst>
                </a:gridCol>
                <a:gridCol w="1484672">
                  <a:extLst>
                    <a:ext uri="{9D8B030D-6E8A-4147-A177-3AD203B41FA5}">
                      <a16:colId xmlns:a16="http://schemas.microsoft.com/office/drawing/2014/main" val="326812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Arduino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Breadboard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 (Brown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Blueline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97599"/>
                  </a:ext>
                </a:extLst>
              </a:tr>
              <a:tr h="386236">
                <a:tc>
                  <a:txBody>
                    <a:bodyPr/>
                    <a:lstStyle/>
                    <a:p>
                      <a:r>
                        <a:rPr lang="en-GB" dirty="0"/>
                        <a:t>5V (Red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089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9A741A-9133-8461-6A2E-322C0076346C}"/>
              </a:ext>
            </a:extLst>
          </p:cNvPr>
          <p:cNvSpPr txBox="1"/>
          <p:nvPr/>
        </p:nvSpPr>
        <p:spPr>
          <a:xfrm>
            <a:off x="8190959" y="2660408"/>
            <a:ext cx="3576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</p:txBody>
      </p:sp>
    </p:spTree>
    <p:extLst>
      <p:ext uri="{BB962C8B-B14F-4D97-AF65-F5344CB8AC3E}">
        <p14:creationId xmlns:p14="http://schemas.microsoft.com/office/powerpoint/2010/main" val="399869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FA3A-34D9-2341-8F12-8D3282A5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80F403-0E86-2B59-AE6B-7A2158CEC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524456"/>
              </p:ext>
            </p:extLst>
          </p:nvPr>
        </p:nvGraphicFramePr>
        <p:xfrm>
          <a:off x="8137012" y="2023950"/>
          <a:ext cx="3690376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703">
                  <a:extLst>
                    <a:ext uri="{9D8B030D-6E8A-4147-A177-3AD203B41FA5}">
                      <a16:colId xmlns:a16="http://schemas.microsoft.com/office/drawing/2014/main" val="1303422274"/>
                    </a:ext>
                  </a:extLst>
                </a:gridCol>
                <a:gridCol w="1484673">
                  <a:extLst>
                    <a:ext uri="{9D8B030D-6E8A-4147-A177-3AD203B41FA5}">
                      <a16:colId xmlns:a16="http://schemas.microsoft.com/office/drawing/2014/main" val="326812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Servo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PWM (Orange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55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 (Brown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 (Breadboard)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97599"/>
                  </a:ext>
                </a:extLst>
              </a:tr>
              <a:tr h="386236">
                <a:tc>
                  <a:txBody>
                    <a:bodyPr/>
                    <a:lstStyle/>
                    <a:p>
                      <a:r>
                        <a:rPr lang="en-GB" dirty="0"/>
                        <a:t>5V (Red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 (Breadboard)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08992"/>
                  </a:ext>
                </a:extLst>
              </a:tr>
            </a:tbl>
          </a:graphicData>
        </a:graphic>
      </p:graphicFrame>
      <p:pic>
        <p:nvPicPr>
          <p:cNvPr id="4" name="Picture 3" descr="A circuit board with wires and a circuit board&#10;&#10;AI-generated content may be incorrect.">
            <a:extLst>
              <a:ext uri="{FF2B5EF4-FFF2-40B4-BE49-F238E27FC236}">
                <a16:creationId xmlns:a16="http://schemas.microsoft.com/office/drawing/2014/main" id="{063ABE71-D9D2-A1A5-1757-6E2E4605E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61" y="1484671"/>
            <a:ext cx="7704084" cy="3730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76A32A-0019-563F-7F46-BB8B9B92CC7F}"/>
              </a:ext>
            </a:extLst>
          </p:cNvPr>
          <p:cNvSpPr txBox="1"/>
          <p:nvPr/>
        </p:nvSpPr>
        <p:spPr>
          <a:xfrm>
            <a:off x="8012226" y="1594147"/>
            <a:ext cx="3576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EF6A35-CE3F-042C-1395-3462AAEAF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798" y="4084672"/>
            <a:ext cx="3690375" cy="2773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60A1B4-3F26-4358-F378-9E33EC6C0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4" y="4432185"/>
            <a:ext cx="4295755" cy="23116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49A0C6-9636-1942-C1E6-8012F00E46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BB35A18-BDA8-8A4D-5FE3-E8939D35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47E82A0-D166-6CEB-411D-E6FACD64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547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4DDB-D793-22CD-A4E7-1359CDE1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0C9EEC34-F7D4-8FF7-3484-FB568275CE52}"/>
              </a:ext>
            </a:extLst>
          </p:cNvPr>
          <p:cNvSpPr txBox="1"/>
          <p:nvPr/>
        </p:nvSpPr>
        <p:spPr>
          <a:xfrm>
            <a:off x="1002422" y="1945286"/>
            <a:ext cx="4582768" cy="23083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Include servo library</a:t>
            </a:r>
          </a:p>
          <a:p>
            <a:r>
              <a:rPr lang="en-GB" dirty="0"/>
              <a:t>setup()</a:t>
            </a:r>
          </a:p>
          <a:p>
            <a:r>
              <a:rPr lang="en-GB" dirty="0"/>
              <a:t>    • attach servo to pin 11</a:t>
            </a:r>
          </a:p>
          <a:p>
            <a:r>
              <a:rPr lang="en-GB" dirty="0"/>
              <a:t>loop()</a:t>
            </a:r>
          </a:p>
          <a:p>
            <a:r>
              <a:rPr lang="en-GB" dirty="0"/>
              <a:t>    • Move the servo from 0 to 180 degrees in   the steps of 10 degrees  </a:t>
            </a:r>
          </a:p>
          <a:p>
            <a:r>
              <a:rPr lang="en-GB" dirty="0"/>
              <a:t>    • Move the servo back from 180 to 0 degrees in the steps of 10 degrees 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AF6B79BA-8F9E-3F2B-CDEB-B8ACB0592574}"/>
              </a:ext>
            </a:extLst>
          </p:cNvPr>
          <p:cNvSpPr txBox="1"/>
          <p:nvPr/>
        </p:nvSpPr>
        <p:spPr>
          <a:xfrm>
            <a:off x="5899355" y="2543035"/>
            <a:ext cx="4582768" cy="120032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hlinkClick r:id="rId2"/>
              </a:rPr>
              <a:t>https://github.com/info-zas/zas-robotics-motion/blob/main/01_FoundationProjects/MFL01/MFL01/MFL01.ino</a:t>
            </a:r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FF361-1450-787B-9579-0C65F93513B3}"/>
              </a:ext>
            </a:extLst>
          </p:cNvPr>
          <p:cNvSpPr txBox="1"/>
          <p:nvPr/>
        </p:nvSpPr>
        <p:spPr bwMode="auto">
          <a:xfrm>
            <a:off x="5753888" y="1945286"/>
            <a:ext cx="559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MFL01 (MFL01.ino):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D81005-6801-7801-8D3D-AEA1C80CA4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75826-3557-5951-2007-9A82E10ED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C0F12F-E727-23A3-37E2-1E75FFEC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64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6A0D-052E-16EE-700C-1872B9C4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 : Servo Motor Control 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DD2F155-9B60-C9A0-43F0-6DB30791CA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6005052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Connect the Servo to Connector J14 in Motion Creative Board</a:t>
            </a:r>
          </a:p>
          <a:p>
            <a:r>
              <a:rPr lang="en-GB" sz="2000" b="1" dirty="0"/>
              <a:t>Execute the same code (MFL01.ino) in the Motion Creative 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922C80-B72E-7394-FB15-403C27211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701" y="1690688"/>
            <a:ext cx="4885191" cy="47691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F57CA9-11BE-5321-D7CF-9F0B8CD7C025}"/>
              </a:ext>
            </a:extLst>
          </p:cNvPr>
          <p:cNvSpPr/>
          <p:nvPr/>
        </p:nvSpPr>
        <p:spPr>
          <a:xfrm>
            <a:off x="8994708" y="2536721"/>
            <a:ext cx="2371386" cy="164198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9620AD-03A1-367B-7D84-D8163791BE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569D3-7074-D11F-FC15-759E6BAC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7F4ACC-8B0A-5070-633D-A6C848CD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8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6233E9-5895-EF0C-2051-74148F404D04}"/>
              </a:ext>
            </a:extLst>
          </p:cNvPr>
          <p:cNvSpPr txBox="1"/>
          <p:nvPr/>
        </p:nvSpPr>
        <p:spPr bwMode="auto">
          <a:xfrm>
            <a:off x="781444" y="4075271"/>
            <a:ext cx="559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MFL01 (MFL01.ino):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9B734C4A-BAA1-A748-90F7-704F42025FDB}"/>
              </a:ext>
            </a:extLst>
          </p:cNvPr>
          <p:cNvSpPr txBox="1"/>
          <p:nvPr/>
        </p:nvSpPr>
        <p:spPr>
          <a:xfrm>
            <a:off x="886692" y="4520921"/>
            <a:ext cx="4582768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>
              <a:hlinkClick r:id="rId4"/>
            </a:endParaRPr>
          </a:p>
          <a:p>
            <a:r>
              <a:rPr lang="en-GB" dirty="0">
                <a:hlinkClick r:id="rId5"/>
              </a:rPr>
              <a:t>https://github.com/info-zas/zas-robotics-motion/blob/main/01_FoundationProjects/MFL01/MFL01/MFL01.ino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465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E8AD-043D-82DE-D4A1-6655EAB5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MFL01_a : Servo Motor Control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 Potentiometer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A4DEA-151A-E8DD-6485-08651AA3F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b="1" dirty="0"/>
              <a:t>Execute the code (MFL01_a.ino) </a:t>
            </a:r>
          </a:p>
          <a:p>
            <a:pPr marL="0" indent="0">
              <a:buNone/>
            </a:pPr>
            <a:r>
              <a:rPr lang="en-GB" sz="2000" b="1" dirty="0"/>
              <a:t>to control the servo motor with </a:t>
            </a:r>
          </a:p>
          <a:p>
            <a:pPr marL="0" indent="0">
              <a:buNone/>
            </a:pPr>
            <a:r>
              <a:rPr lang="en-GB" sz="2000" b="1" dirty="0"/>
              <a:t>potentiometer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06F6F-888C-3853-3996-15B3AAD8D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701" y="1690688"/>
            <a:ext cx="4885191" cy="47691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2F60BF-7B3D-314A-5E8E-1738AE5B1C82}"/>
              </a:ext>
            </a:extLst>
          </p:cNvPr>
          <p:cNvSpPr/>
          <p:nvPr/>
        </p:nvSpPr>
        <p:spPr>
          <a:xfrm>
            <a:off x="9240511" y="2271252"/>
            <a:ext cx="2371386" cy="1809135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B2AAD0-2F55-6125-026B-8F8DF935F42A}"/>
              </a:ext>
            </a:extLst>
          </p:cNvPr>
          <p:cNvSpPr/>
          <p:nvPr/>
        </p:nvSpPr>
        <p:spPr>
          <a:xfrm>
            <a:off x="8383227" y="4758812"/>
            <a:ext cx="521110" cy="56043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73733-AA9F-4E6C-B5FD-0027F0F1B72A}"/>
              </a:ext>
            </a:extLst>
          </p:cNvPr>
          <p:cNvSpPr txBox="1"/>
          <p:nvPr/>
        </p:nvSpPr>
        <p:spPr>
          <a:xfrm>
            <a:off x="781444" y="2932043"/>
            <a:ext cx="6096000" cy="258532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dirty="0"/>
              <a:t>Include </a:t>
            </a:r>
            <a:r>
              <a:rPr lang="en-US"/>
              <a:t>Servo library</a:t>
            </a:r>
            <a:endParaRPr lang="en-US" dirty="0"/>
          </a:p>
          <a:p>
            <a:r>
              <a:rPr lang="en-US"/>
              <a:t>setup()</a:t>
            </a:r>
            <a:endParaRPr lang="en-US" dirty="0"/>
          </a:p>
          <a:p>
            <a:r>
              <a:rPr lang="en-US" dirty="0"/>
              <a:t>Attach servo motor </a:t>
            </a:r>
            <a:r>
              <a:rPr lang="en-US"/>
              <a:t>to pin 11</a:t>
            </a:r>
            <a:endParaRPr lang="en-US" dirty="0"/>
          </a:p>
          <a:p>
            <a:r>
              <a:rPr lang="en-US"/>
              <a:t>loop()</a:t>
            </a:r>
            <a:endParaRPr lang="en-US" dirty="0"/>
          </a:p>
          <a:p>
            <a:r>
              <a:rPr lang="en-US" dirty="0"/>
              <a:t>Read potentiometer value </a:t>
            </a:r>
            <a:r>
              <a:rPr lang="en-US"/>
              <a:t>from </a:t>
            </a:r>
            <a:r>
              <a:rPr lang="en-US" dirty="0"/>
              <a:t>analog </a:t>
            </a:r>
            <a:r>
              <a:rPr lang="en-US"/>
              <a:t>pin A0</a:t>
            </a:r>
            <a:endParaRPr lang="en-US" dirty="0"/>
          </a:p>
          <a:p>
            <a:r>
              <a:rPr lang="en-US" dirty="0"/>
              <a:t>Convert potentiometer value (0–1023) to servo angle (0–180 degrees)</a:t>
            </a:r>
          </a:p>
          <a:p>
            <a:r>
              <a:rPr lang="en-US" dirty="0"/>
              <a:t>Move the servo to the calculated angle</a:t>
            </a:r>
          </a:p>
          <a:p>
            <a:r>
              <a:rPr lang="en-US" dirty="0"/>
              <a:t>Repeat continuously as the potentiometer is rotated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B014CA-0C56-2A13-9F4D-70C0724DEC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C2D4134-6B96-5846-48C6-C6BF5A738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1538773-FC85-E31C-3F76-783B39A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625C2-32F5-3735-913B-24E07055A3D4}"/>
              </a:ext>
            </a:extLst>
          </p:cNvPr>
          <p:cNvSpPr txBox="1"/>
          <p:nvPr/>
        </p:nvSpPr>
        <p:spPr bwMode="auto">
          <a:xfrm>
            <a:off x="771939" y="5576798"/>
            <a:ext cx="559991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MFL01_a (MFL01_a.ino):</a:t>
            </a:r>
          </a:p>
          <a:p>
            <a:pPr>
              <a:defRPr/>
            </a:pPr>
            <a:r>
              <a:rPr lang="en-GB" b="1" dirty="0">
                <a:hlinkClick r:id="rId4"/>
              </a:rPr>
              <a:t>https://github.com/info-zas/zas-robotics-motion/blob/main/01_FoundationProjects/MFL01/MFL01_a/MFL01_a.ino</a:t>
            </a:r>
            <a:endParaRPr lang="en-GB" b="1" dirty="0"/>
          </a:p>
          <a:p>
            <a:pPr>
              <a:defRPr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92234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9320-7618-4925-BD60-D3E85CED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Applications of Servo Motors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1BDA4-240B-AE2F-D0A3-D4C86564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51A33-5776-79EE-66A3-EA01F023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4493F7-43C0-632C-21E5-01928FF9A48A}"/>
              </a:ext>
            </a:extLst>
          </p:cNvPr>
          <p:cNvSpPr txBox="1"/>
          <p:nvPr/>
        </p:nvSpPr>
        <p:spPr>
          <a:xfrm>
            <a:off x="838199" y="2137949"/>
            <a:ext cx="76470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Applications of Servo Motors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Robotics: Robot arms, pick-and-place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Industrial Automation: CNC machines, conveyor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Electronics Projects: Arduino-based motion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Automotive Systems: Power steering, headlamp positioning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Medical Equipment: Surgical robots, prosthetic limbs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Consumer Products: Remote-controlled toys, drones</a:t>
            </a:r>
          </a:p>
          <a:p>
            <a:pPr>
              <a:buNone/>
            </a:pPr>
            <a:r>
              <a:rPr lang="en-US" sz="2400" b="1" dirty="0"/>
              <a:t>Servo motors are used wherever precise position and motion control is required.</a:t>
            </a:r>
            <a:endParaRPr lang="en-US" sz="2400" dirty="0"/>
          </a:p>
        </p:txBody>
      </p:sp>
      <p:pic>
        <p:nvPicPr>
          <p:cNvPr id="9" name="Picture 8" descr="A blue and black robotic arm&#10;&#10;AI-generated content may be incorrect.">
            <a:extLst>
              <a:ext uri="{FF2B5EF4-FFF2-40B4-BE49-F238E27FC236}">
                <a16:creationId xmlns:a16="http://schemas.microsoft.com/office/drawing/2014/main" id="{0E552F85-CD48-C847-22CC-560B6C469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249264" y="1968763"/>
            <a:ext cx="3104535" cy="43767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51ABF-DF20-DAC6-F0D2-02FF6C187C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1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466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MFL01 : Servo Motor Control </vt:lpstr>
      <vt:lpstr>MFL01 : Servo Motor Control </vt:lpstr>
      <vt:lpstr>PowerPoint Presentation</vt:lpstr>
      <vt:lpstr>MFL01 : Servo Motor Control </vt:lpstr>
      <vt:lpstr>MFL01 : Servo Motor Control </vt:lpstr>
      <vt:lpstr>MFL01 : Servo Motor Control </vt:lpstr>
      <vt:lpstr>MFL01_a : Servo Motor Control  With Potentiometer</vt:lpstr>
      <vt:lpstr>Applications of Servo Motors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28</cp:revision>
  <dcterms:created xsi:type="dcterms:W3CDTF">2025-12-15T19:48:42Z</dcterms:created>
  <dcterms:modified xsi:type="dcterms:W3CDTF">2025-12-26T19:06:16Z</dcterms:modified>
</cp:coreProperties>
</file>